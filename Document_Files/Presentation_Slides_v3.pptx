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69" r:id="rId6"/>
    <p:sldId id="260" r:id="rId7"/>
    <p:sldId id="261" r:id="rId8"/>
    <p:sldId id="265" r:id="rId9"/>
    <p:sldId id="270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BD805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273" autoAdjust="0"/>
    <p:restoredTop sz="88015" autoAdjust="0"/>
  </p:normalViewPr>
  <p:slideViewPr>
    <p:cSldViewPr snapToGrid="0" showGuides="1">
      <p:cViewPr varScale="1">
        <p:scale>
          <a:sx n="94" d="100"/>
          <a:sy n="94" d="100"/>
        </p:scale>
        <p:origin x="444" y="78"/>
      </p:cViewPr>
      <p:guideLst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094043-31A2-4DE8-BD0D-19AD51635CC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E9003-360B-4E18-8AA9-F1BCDFEE0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Represented but Underpowered: Subgroup Inference in the ACTG 320 Trial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31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Study was well balanced between control and treatment groups</a:t>
            </a:r>
            <a:endParaRPr lang="en-US" sz="1200" dirty="0"/>
          </a:p>
          <a:p>
            <a:r>
              <a:rPr lang="en-US" sz="1200"/>
              <a:t>Female participants made up 83% of sample</a:t>
            </a:r>
            <a:endParaRPr lang="en-US" sz="1200" dirty="0"/>
          </a:p>
          <a:p>
            <a:r>
              <a:rPr lang="en-US" sz="1200"/>
              <a:t>Whites made up 52% of total participants</a:t>
            </a:r>
            <a:endParaRPr lang="en-US" sz="1200" dirty="0"/>
          </a:p>
          <a:p>
            <a:r>
              <a:rPr lang="en-US" sz="1200"/>
              <a:t>Low event rates in subgroups will have an impact on the statistical power of subgroup tests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06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Two key functions</a:t>
            </a:r>
            <a:r>
              <a:rPr lang="en-US" b="1" dirty="0"/>
              <a:t>:</a:t>
            </a:r>
            <a:endParaRPr lang="en-US" dirty="0"/>
          </a:p>
          <a:p>
            <a:r>
              <a:rPr lang="en-US" b="1"/>
              <a:t>Survival function</a:t>
            </a:r>
            <a:r>
              <a:rPr lang="en-US"/>
              <a:t> S</a:t>
            </a:r>
            <a:r>
              <a:rPr lang="en-US" dirty="0"/>
              <a:t>(</a:t>
            </a:r>
            <a:r>
              <a:rPr lang="en-US"/>
              <a:t>t) = P(T &gt; t) — probability of remaining event-free beyond time t</a:t>
            </a:r>
            <a:endParaRPr lang="en-US" dirty="0"/>
          </a:p>
          <a:p>
            <a:r>
              <a:rPr lang="en-US" b="1"/>
              <a:t>Hazard function</a:t>
            </a:r>
            <a:r>
              <a:rPr lang="en-US"/>
              <a:t> h</a:t>
            </a:r>
            <a:r>
              <a:rPr lang="en-US" dirty="0"/>
              <a:t>(</a:t>
            </a:r>
            <a:r>
              <a:rPr lang="en-US"/>
              <a:t>t) — instantaneous rate of the event at time t, given survival up to t</a:t>
            </a:r>
            <a:endParaRPr lang="en-US" dirty="0"/>
          </a:p>
          <a:p>
            <a:r>
              <a:rPr lang="en-US" b="1"/>
              <a:t>Kaplan-Meier estimator:</a:t>
            </a:r>
            <a:r>
              <a:rPr lang="en-US"/>
              <a:t> Non-parametric estimate of S</a:t>
            </a:r>
            <a:r>
              <a:rPr lang="en-US" dirty="0"/>
              <a:t>(</a:t>
            </a:r>
            <a:r>
              <a:rPr lang="en-US"/>
              <a:t>t). Drops at each observed event time, accounts for censored observations between events. Used for visualization and log-rank tests</a:t>
            </a:r>
            <a:r>
              <a:rPr lang="en-US" dirty="0"/>
              <a:t>.</a:t>
            </a:r>
          </a:p>
          <a:p>
            <a:r>
              <a:rPr lang="en-US" b="1"/>
              <a:t>Cox proportional hazards model:</a:t>
            </a:r>
            <a:r>
              <a:rPr lang="en-US"/>
              <a:t> Semi-parametric regression for time-to-event outcomes. Models the hazard as h</a:t>
            </a:r>
            <a:r>
              <a:rPr lang="en-US" dirty="0"/>
              <a:t>₀(t)·exp(</a:t>
            </a:r>
            <a:r>
              <a:rPr lang="en-US"/>
              <a:t>Xᵀβ) — the baseline hazard h</a:t>
            </a:r>
            <a:r>
              <a:rPr lang="en-US" dirty="0"/>
              <a:t>₀(</a:t>
            </a:r>
            <a:r>
              <a:rPr lang="en-US"/>
              <a:t>t) is left unspecified, so inference focuses entirely on the coefficient vector β. The key assumption: </a:t>
            </a:r>
            <a:r>
              <a:rPr lang="en-US" b="1"/>
              <a:t>hazard ratios are constant over time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256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h_i</a:t>
            </a:r>
            <a:r>
              <a:rPr lang="en-US" b="1" dirty="0"/>
              <a:t>(</a:t>
            </a:r>
            <a:r>
              <a:rPr lang="en-US" b="1"/>
              <a:t>t)</a:t>
            </a:r>
            <a:r>
              <a:rPr lang="en-US"/>
              <a:t> — the hazard for person </a:t>
            </a:r>
            <a:r>
              <a:rPr lang="en-US" i="1"/>
              <a:t>i</a:t>
            </a:r>
            <a:r>
              <a:rPr lang="en-US"/>
              <a:t> at time </a:t>
            </a:r>
            <a:r>
              <a:rPr lang="en-US" i="1"/>
              <a:t>t</a:t>
            </a:r>
            <a:r>
              <a:rPr lang="en-US"/>
              <a:t>. Think of it as: "what is person </a:t>
            </a:r>
            <a:r>
              <a:rPr lang="en-US" i="1"/>
              <a:t>i</a:t>
            </a:r>
            <a:r>
              <a:rPr lang="en-US"/>
              <a:t>'s instantaneous risk of the event (AIDS or death) right now, given they've survived to time t</a:t>
            </a:r>
            <a:r>
              <a:rPr lang="en-US" dirty="0"/>
              <a:t>?"</a:t>
            </a:r>
          </a:p>
          <a:p>
            <a:r>
              <a:rPr lang="en-US" b="1" dirty="0"/>
              <a:t>h_0(</a:t>
            </a:r>
            <a:r>
              <a:rPr lang="en-US" b="1"/>
              <a:t>t)</a:t>
            </a:r>
            <a:r>
              <a:rPr lang="en-US"/>
              <a:t> — the </a:t>
            </a:r>
            <a:r>
              <a:rPr lang="en-US" b="1"/>
              <a:t>baseline hazard</a:t>
            </a:r>
            <a:r>
              <a:rPr lang="en-US"/>
              <a:t>. This is the hazard for a person when all their covariates equal zero. It's the part Cox left unspecified — you never actually estimate it, which is what makes the model semi-parametric</a:t>
            </a:r>
            <a:r>
              <a:rPr lang="en-US" dirty="0"/>
              <a:t>.</a:t>
            </a:r>
          </a:p>
          <a:p>
            <a:r>
              <a:rPr lang="en-US" b="1"/>
              <a:t>exp(...)</a:t>
            </a:r>
            <a:r>
              <a:rPr lang="en-US"/>
              <a:t> — everything inside the exponent shifts the baseline hazard up or down multiplicatively based on the person's characteristics</a:t>
            </a:r>
            <a:r>
              <a:rPr lang="en-US" dirty="0"/>
              <a:t>.</a:t>
            </a:r>
          </a:p>
          <a:p>
            <a:r>
              <a:rPr lang="en-US" b="1" dirty="0"/>
              <a:t>β</a:t>
            </a:r>
            <a:r>
              <a:rPr lang="en-US" b="1"/>
              <a:t>_1 T_i</a:t>
            </a:r>
            <a:r>
              <a:rPr lang="en-US"/>
              <a:t> — β_1 is the log hazard ratio for treatment. T_i is 1 if person </a:t>
            </a:r>
            <a:r>
              <a:rPr lang="en-US" i="1"/>
              <a:t>i</a:t>
            </a:r>
            <a:r>
              <a:rPr lang="en-US"/>
              <a:t> got indinavir, 0 if not. So exp</a:t>
            </a:r>
            <a:r>
              <a:rPr lang="en-US" dirty="0"/>
              <a:t>(β_</a:t>
            </a:r>
            <a:r>
              <a:rPr lang="en-US"/>
              <a:t>1) is the hazard ratio for treatment — in your paper, that comes out to 0.517, meaning indinavir cuts the hazard roughly in half</a:t>
            </a:r>
            <a:r>
              <a:rPr lang="en-US" dirty="0"/>
              <a:t>.</a:t>
            </a:r>
          </a:p>
          <a:p>
            <a:r>
              <a:rPr lang="en-US" b="1" dirty="0"/>
              <a:t>β_2</a:t>
            </a:r>
            <a:r>
              <a:rPr lang="en-US" b="1"/>
              <a:t>^T Z_i</a:t>
            </a:r>
            <a:r>
              <a:rPr lang="en-US"/>
              <a:t> — the superscript T here means </a:t>
            </a:r>
            <a:r>
              <a:rPr lang="en-US" i="1"/>
              <a:t>transpose</a:t>
            </a:r>
            <a:r>
              <a:rPr lang="en-US"/>
              <a:t>, not treatment. Z_i is a vector of the other covariates (age, CD4 count, Karnofsky score, etc.), and β_2 is the corresponding vector of coefficients. This term adjusts for all those baseline characteristics simultaneously</a:t>
            </a:r>
            <a:r>
              <a:rPr lang="en-US" dirty="0"/>
              <a:t>.</a:t>
            </a:r>
          </a:p>
          <a:p>
            <a:endParaRPr lang="en-US" sz="1200" b="1" dirty="0"/>
          </a:p>
          <a:p>
            <a:endParaRPr lang="en-US" sz="1200" b="1" dirty="0"/>
          </a:p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lvl="1"/>
            <a:r>
              <a:rPr lang="en-US" sz="2400"/>
              <a:t>The two curves separate early and remain clearly apart throughout follow-up</a:t>
            </a:r>
            <a:r>
              <a:rPr lang="en-US" sz="2400" dirty="0"/>
              <a:t>.</a:t>
            </a:r>
          </a:p>
          <a:p>
            <a:pPr lvl="1"/>
            <a:r>
              <a:rPr lang="en-US" sz="2400"/>
              <a:t>Indinavir group maintains substantially higher event-free survival probability</a:t>
            </a:r>
            <a:r>
              <a:rPr lang="en-US" sz="2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987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32EB-1BEE-C5FB-EAD2-293E20E4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0AA36-FC30-6D9B-2812-CAAEC4347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BF49E-E432-8465-D8EA-A961ADA7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E0C960-788A-19FF-F26D-7560F9373F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188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9895-5CF1-FECF-8E1D-CCA99FE5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0B00E-D696-22EB-7672-C0AC2649C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D7154-CF7A-571A-919F-28EF1338C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55DCC-8D43-0A1C-1679-42137EACB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157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Since clinical trials measure time-to-event, inference is based on number of events instead of sample size</a:t>
            </a:r>
          </a:p>
          <a:p>
            <a:r>
              <a:rPr lang="en-US" sz="1200" dirty="0"/>
              <a:t>The ACTG 320 study did not provide any explicit power analyses, so the power was estimated based on observed actuals</a:t>
            </a:r>
          </a:p>
          <a:p>
            <a:r>
              <a:rPr lang="en-US" sz="1200" dirty="0"/>
              <a:t>Only the Overall and Female groups were powered above 80%; all other groups were underpowered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Preliminary simulation analysis shows that many of the subgroups were significantly under powered, undermining in the efficacy of the hypothesis tests for subgroup treatment effect analyses</a:t>
            </a:r>
          </a:p>
          <a:p>
            <a:r>
              <a:rPr lang="en-US" dirty="0"/>
              <a:t>A power simulation analysis was conducted to estimate sample size needed to generate power with 80%</a:t>
            </a:r>
          </a:p>
          <a:p>
            <a:r>
              <a:rPr lang="en-US" dirty="0"/>
              <a:t>Effect sizes were readily available for most subgroups but had to be estimated based on plausible HR ranges and observed event rates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379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Due to extremely limited information, some subgroups would require prohibitively high sample rates</a:t>
            </a:r>
          </a:p>
          <a:p>
            <a:r>
              <a:rPr lang="en-US" sz="1200" dirty="0"/>
              <a:t>Extreme values highlight the instability of these estimates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266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C560-31B0-77EC-429F-C62DF1E85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715472-037B-0E77-BB7B-F4A1E6D87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3F16A-A172-0053-429C-2FFC4D9E1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2766A-70DF-4EED-AD06-91C046CCC542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51E7-F6CE-03C5-485A-5DFA3DFD8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EEADB-FF4E-7819-31A6-85B329F9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6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125-55A0-DD12-F085-D6BFFBE6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BF9E8-2E36-E825-08FE-3C98F9EE4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3B707-CBF4-EC10-58DB-F7DA8CA9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7FE21-2CD4-4765-8796-2AF547FCD935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1DA9-E69F-B7CD-B15D-861147328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8B6D4-0BC2-2204-E0FE-1639543EB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4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DF4D-64FA-B08B-FF9E-0DF2CEA2A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5E306-DF92-3577-39D1-DEDAD2FA9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86772-A0C7-1020-3CD6-4C2F3E347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B12C0-F489-429A-AE39-EF60A18F4EB4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16D2E-A55E-0FC5-A69D-D9A62E7D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8F52-8AB9-AEA3-1D07-808CE021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58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8450-C01D-AD75-E21A-B2BA6357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B1FCB-B110-77A0-F449-EE9BFE4F4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E209B-6459-C4D8-B9DC-2C1A4FCCF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802A6E-659E-5672-30C4-EA6E26841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1563D-13E1-408D-93AB-67E59C14115F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0F989-C584-82A9-B001-13F6B045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22284-C3CA-3730-0492-3905220BA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31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B8D17-E9FC-A0F4-BCAA-E7422240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B1F0-A448-0099-BC58-BAD6546F22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C9893-8A84-5893-C74B-7D3DA84EC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3F76E-7048-2A12-558E-46EE8A805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CBAE6-74A6-4C5D-0CA0-6C9FC9C97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1FEA4-B98B-7EDD-2034-B7CE5DA51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27240-31ED-4540-8622-12CACEE245EE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9E8AA1-B240-6678-36C1-7F484382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F4FE5-2691-2CF8-4145-C8842F223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2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59A6-7389-5C41-FE80-11A4F7D54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E67D6-B310-7171-1FA4-1E78DC957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3054F-A5B3-4ED5-9CC9-1E82D6C4F216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89FB6-B767-3389-C254-56ED1E8BE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7FD520-6E4A-18EC-6A5B-6A72FF58D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10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1B60EE-F87A-4988-FFB0-05904E6A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ABC0E-F129-4245-AA2B-27E08B4EDF8B}" type="datetime1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1C1CDB-DECE-4130-FCB9-E0ECA027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25F99-D698-6365-5D22-66B2E8712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118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8312-5ED4-C05D-BA5B-BFE31943E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D3908-A142-AD80-861A-5AD683BE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ABFCD-C27C-8D18-3C4D-164CF8F67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3638E-1C22-DB1D-E4BD-60AC89BD3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8681E-A762-4AB5-A6A0-109C767AE03E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86F6C-96D4-E576-9653-25B29BE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9FBA1-B164-0150-5AC5-C52CD0188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13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076E-D6E1-189F-2807-97B282C2A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A68E3A-D62A-F512-CCD9-1C5F7BA1ED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A6EC8-A91A-5253-DCDD-E2A10AC18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97E1C-EA93-F50F-D49B-BF5A604E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84EF8-0EC5-414E-B27B-6A9E812407A3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C0A0CD-BD60-2DDF-068A-BC563A14C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C4CCC-1743-5F98-212A-480C969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6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CD204-0EDE-ACE8-4967-2F94C10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5EF0AA-989C-1747-0B73-160FC57C7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4BCA-A461-5808-72A8-716EB55AC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551F4-C417-4178-9C4F-AE395D6DEFF8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628C-0E36-3132-448B-E082F14B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328DA-76BB-104C-11AB-1D4DE6899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08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CCDB4-68E2-9CF2-0AB3-6332D3F2B1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593FD-00A4-90F4-2E58-F694B5059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1A15-2B32-98D7-F25D-F6CCEC63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068D-DD41-4230-AE56-63E074B1D952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66FE5-70F1-5EFE-DB3F-401D5AE49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518F6-CC2B-D9C7-F76E-2B581D51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61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5D6913-1F3A-DF50-7816-4411B9783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FCB73-2FAC-F2ED-1DA2-CFC51B85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9949-57E9-24B6-B345-643828A5A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3C63F-9209-4850-A260-94E98C5748EF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08C2B-288E-230C-CDF3-18A64E9E8E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BE7A-6FBB-A3FB-9732-803B1D214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0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BC5359-89EE-EAA3-F872-48E4FD8874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" r="17707" b="-1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04BD5-13A7-AB46-5A0E-8F02713838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115219"/>
            <a:ext cx="5505449" cy="2387600"/>
          </a:xfrm>
        </p:spPr>
        <p:txBody>
          <a:bodyPr anchorCtr="0">
            <a:normAutofit/>
          </a:bodyPr>
          <a:lstStyle/>
          <a:p>
            <a:pPr algn="l"/>
            <a:r>
              <a:rPr lang="en-US" sz="3900" b="1" dirty="0">
                <a:solidFill>
                  <a:schemeClr val="bg1"/>
                </a:solidFill>
              </a:rPr>
              <a:t>Represented but Underpowered: Subgroup Inference in the ACTG 320 Trial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51C4B6-6C90-D09D-061D-48E961F91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663" y="3902075"/>
            <a:ext cx="5505449" cy="1655762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Susan Peck, Jan Blackburn, Joseph Burks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Math 261B - Spring 2026</a:t>
            </a:r>
          </a:p>
          <a:p>
            <a:pPr algn="l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4391C-AAAC-70C5-37BD-D5C6EB8F3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E78427E-3D83-4E05-BBD0-5A5577BF92C2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610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2850-9271-D001-4067-F02A6D449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92164"/>
          </a:xfrm>
        </p:spPr>
        <p:txBody>
          <a:bodyPr>
            <a:noAutofit/>
          </a:bodyPr>
          <a:lstStyle/>
          <a:p>
            <a:r>
              <a:rPr lang="en-US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49DC-CEB1-9804-CE83-BDF1F063C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 Questions and Study Design</a:t>
            </a:r>
          </a:p>
          <a:p>
            <a:r>
              <a:rPr lang="en-US" dirty="0"/>
              <a:t>Participant Descriptive Statistics</a:t>
            </a:r>
          </a:p>
          <a:p>
            <a:r>
              <a:rPr lang="en-US" dirty="0"/>
              <a:t>Survival Analysis Methods</a:t>
            </a:r>
          </a:p>
          <a:p>
            <a:r>
              <a:rPr lang="en-US" dirty="0"/>
              <a:t>Full Group and Subgroup Results</a:t>
            </a:r>
          </a:p>
          <a:p>
            <a:r>
              <a:rPr lang="en-US" dirty="0"/>
              <a:t>Power Analysis and Sample Size Requirements</a:t>
            </a:r>
          </a:p>
          <a:p>
            <a:r>
              <a:rPr lang="en-US" dirty="0"/>
              <a:t>Conclusions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0DD36-D078-ABD8-00E6-AB75E9D9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866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1B8B3-0E96-7DCB-6896-19614CF86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/>
              <a:t>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C495F-9D76-6A7B-8815-8DAF2B5D1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4" y="1125537"/>
            <a:ext cx="10658475" cy="4332287"/>
          </a:xfrm>
        </p:spPr>
        <p:txBody>
          <a:bodyPr>
            <a:normAutofit/>
          </a:bodyPr>
          <a:lstStyle/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Were sex and race/ethnicity subgroups adequately powered to detect treatment effects?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Was indinavir’s benefit consistent across subgroups?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What enrollment would be required in a future study to achieve adequate power for all subgroups?</a:t>
            </a:r>
          </a:p>
          <a:p>
            <a:pPr marL="971550" lvl="1" indent="-514350">
              <a:buFont typeface="+mj-lt"/>
              <a:buAutoNum type="arabicParenR"/>
            </a:pPr>
            <a:endParaRPr lang="en-US" sz="2800" dirty="0"/>
          </a:p>
          <a:p>
            <a:pPr marL="457200" lvl="1" indent="0">
              <a:buNone/>
            </a:pPr>
            <a:r>
              <a:rPr lang="en-US" sz="2800" b="1" dirty="0"/>
              <a:t>Key challenge:</a:t>
            </a:r>
          </a:p>
          <a:p>
            <a:pPr marL="457200" lvl="1" indent="0">
              <a:buNone/>
            </a:pPr>
            <a:r>
              <a:rPr lang="en-US" sz="2800" dirty="0"/>
              <a:t>In survival analyses, statistical power is driven by number of observed events, not sample size alone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09A4A-7E31-EA06-8416-CE8FF91C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838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7B03-88F2-94CA-0586-2D4E3A535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628A4-396C-0C10-030C-AEA53E7E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 dirty="0"/>
              <a:t>ACTG 320 Study Design (Hammer et al. 1997)</a:t>
            </a:r>
          </a:p>
        </p:txBody>
      </p:sp>
      <p:sp>
        <p:nvSpPr>
          <p:cNvPr id="10" name="Left Content">
            <a:extLst>
              <a:ext uri="{FF2B5EF4-FFF2-40B4-BE49-F238E27FC236}">
                <a16:creationId xmlns:a16="http://schemas.microsoft.com/office/drawing/2014/main" id="{059C6BD1-A252-FB90-8924-E865CE908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5105502" cy="5452719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Structure</a:t>
            </a:r>
          </a:p>
          <a:p>
            <a:r>
              <a:rPr lang="en-US" sz="2400" dirty="0"/>
              <a:t>Multi-center, randomized, double-blind, placebo-controlled trial</a:t>
            </a:r>
          </a:p>
          <a:p>
            <a:r>
              <a:rPr lang="en-US" sz="2400" dirty="0"/>
              <a:t>1,151 adults with advanced HIV (CD4 ≤ 200 cells/mm³)</a:t>
            </a:r>
          </a:p>
          <a:p>
            <a:r>
              <a:rPr lang="en-US" sz="2400" dirty="0"/>
              <a:t>Participants randomized within two CD4 count blocks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Treatment Groups</a:t>
            </a:r>
          </a:p>
          <a:p>
            <a:r>
              <a:rPr lang="en-US" sz="2400" b="1" dirty="0"/>
              <a:t>Control: </a:t>
            </a:r>
            <a:r>
              <a:rPr lang="en-US" sz="2400" dirty="0"/>
              <a:t>standard two-drug regimen</a:t>
            </a:r>
          </a:p>
          <a:p>
            <a:r>
              <a:rPr lang="en-US" sz="2400" b="1" dirty="0"/>
              <a:t>Treatment: </a:t>
            </a:r>
            <a:r>
              <a:rPr lang="en-US" sz="2400" dirty="0"/>
              <a:t>same regimen + protease inhibitor indinavir</a:t>
            </a:r>
          </a:p>
        </p:txBody>
      </p:sp>
      <p:sp>
        <p:nvSpPr>
          <p:cNvPr id="11" name="Right Content">
            <a:extLst>
              <a:ext uri="{FF2B5EF4-FFF2-40B4-BE49-F238E27FC236}">
                <a16:creationId xmlns:a16="http://schemas.microsoft.com/office/drawing/2014/main" id="{42E6A872-888D-F68A-5B95-B29B7656D70D}"/>
              </a:ext>
            </a:extLst>
          </p:cNvPr>
          <p:cNvSpPr txBox="1"/>
          <p:nvPr/>
        </p:nvSpPr>
        <p:spPr>
          <a:xfrm>
            <a:off x="6275672" y="1125538"/>
            <a:ext cx="5508825" cy="542446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noAutofit/>
          </a:bodyPr>
          <a:lstStyle/>
          <a:p>
            <a:r>
              <a:rPr lang="en-US" sz="2400" b="1" dirty="0"/>
              <a:t>Primary Outcome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Days to AIDS-defining illness or death (time-to-event)</a:t>
            </a:r>
          </a:p>
          <a:p>
            <a:endParaRPr lang="en-US" sz="2400" dirty="0"/>
          </a:p>
          <a:p>
            <a:r>
              <a:rPr lang="en-US" sz="2400" b="1" dirty="0"/>
              <a:t>Subgroups Analyzed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Sex: </a:t>
            </a:r>
            <a:r>
              <a:rPr lang="en-US" sz="2400" dirty="0"/>
              <a:t>Female (83%), Male (17%)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Race/Ethnicity: </a:t>
            </a:r>
            <a:r>
              <a:rPr lang="en-US" sz="2400" dirty="0"/>
              <a:t>White (52%), Black (28%), Hispanic (18%), Asian/PI (1%), Other (1%)</a:t>
            </a:r>
          </a:p>
          <a:p>
            <a:endParaRPr lang="en-US" sz="2400" dirty="0"/>
          </a:p>
          <a:p>
            <a:r>
              <a:rPr lang="en-US" sz="2400" b="1" dirty="0"/>
              <a:t>Other Covariates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Age, baseline CD4 count, Karnofsky score, prior ZDV use, CD4 stratum</a:t>
            </a:r>
          </a:p>
        </p:txBody>
      </p:sp>
    </p:spTree>
    <p:extLst>
      <p:ext uri="{BB962C8B-B14F-4D97-AF65-F5344CB8AC3E}">
        <p14:creationId xmlns:p14="http://schemas.microsoft.com/office/powerpoint/2010/main" val="262109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CF84-53F6-946A-CA94-D30D0DCA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Participant Group Descriptive Statistics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8DF3C-B02D-A675-3F9E-6D1D076C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12" name="Content Placeholder 8">
            <a:extLst>
              <a:ext uri="{FF2B5EF4-FFF2-40B4-BE49-F238E27FC236}">
                <a16:creationId xmlns:a16="http://schemas.microsoft.com/office/drawing/2014/main" id="{B4D5DA4C-982E-79DE-5E7B-67D1EB78B0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326195"/>
              </p:ext>
            </p:extLst>
          </p:nvPr>
        </p:nvGraphicFramePr>
        <p:xfrm>
          <a:off x="3270522" y="1125538"/>
          <a:ext cx="565095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882">
                  <a:extLst>
                    <a:ext uri="{9D8B030D-6E8A-4147-A177-3AD203B41FA5}">
                      <a16:colId xmlns:a16="http://schemas.microsoft.com/office/drawing/2014/main" val="3114019077"/>
                    </a:ext>
                  </a:extLst>
                </a:gridCol>
                <a:gridCol w="1302020">
                  <a:extLst>
                    <a:ext uri="{9D8B030D-6E8A-4147-A177-3AD203B41FA5}">
                      <a16:colId xmlns:a16="http://schemas.microsoft.com/office/drawing/2014/main" val="920085322"/>
                    </a:ext>
                  </a:extLst>
                </a:gridCol>
                <a:gridCol w="1719053">
                  <a:extLst>
                    <a:ext uri="{9D8B030D-6E8A-4147-A177-3AD203B41FA5}">
                      <a16:colId xmlns:a16="http://schemas.microsoft.com/office/drawing/2014/main" val="3444253593"/>
                    </a:ext>
                  </a:extLst>
                </a:gridCol>
              </a:tblGrid>
              <a:tr h="201701">
                <a:tc>
                  <a:txBody>
                    <a:bodyPr/>
                    <a:lstStyle/>
                    <a:p>
                      <a:r>
                        <a:rPr lang="en-US" sz="2000" dirty="0"/>
                        <a:t>Treatment 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335835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Control (no indinavir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50.1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1896779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Treatment (</a:t>
                      </a:r>
                      <a:r>
                        <a:rPr lang="en-US" sz="2000" dirty="0"/>
                        <a:t>indinavir)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8566912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0AAC7BB-3306-5666-DBED-3DD23E1C2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565179"/>
              </p:ext>
            </p:extLst>
          </p:nvPr>
        </p:nvGraphicFramePr>
        <p:xfrm>
          <a:off x="1674796" y="2705646"/>
          <a:ext cx="8835989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547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923556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19892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% of Sample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 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82.6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7650"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999465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51.8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28.4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100%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8.3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12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76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F2B7-E309-7D90-A163-C7269D478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Survival Analysis Methods: Cox Proportional Hazard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1F7FC-AB28-D300-8280-ABEBB80BB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3678" y="5852158"/>
            <a:ext cx="9257898" cy="70600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Hazard Ratio (HR) </a:t>
            </a:r>
            <a:r>
              <a:rPr lang="en-US" sz="2000" dirty="0"/>
              <a:t>compares the risk of an event occurring between two groups or individuals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E5585A6-A6DC-664A-3F82-D3A79D1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66E12-F496-D998-82BB-41E87AE91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678" y="1327730"/>
            <a:ext cx="9084644" cy="452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0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E2E1-09E4-5A83-00A3-78180B6E9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77876"/>
          </a:xfrm>
        </p:spPr>
        <p:txBody>
          <a:bodyPr>
            <a:normAutofit/>
          </a:bodyPr>
          <a:lstStyle/>
          <a:p>
            <a:r>
              <a:rPr lang="en-US"/>
              <a:t>Full Group Treatment Effect Replication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/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pPr lvl="1"/>
                <a:r>
                  <a:rPr lang="en-US" sz="2400" dirty="0"/>
                  <a:t>T = binary treatment</a:t>
                </a:r>
              </a:p>
              <a:p>
                <a:pPr lvl="1"/>
                <a:r>
                  <a:rPr lang="en-US" sz="2400" dirty="0"/>
                  <a:t>Z = covariate vector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blipFill>
                <a:blip r:embed="rId3"/>
                <a:stretch>
                  <a:fillRect l="-2226" b="-115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8CFC45BE-AEFD-6C78-962A-7C47ACA6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212856-50A5-3D37-9754-04485020DA10}"/>
              </a:ext>
            </a:extLst>
          </p:cNvPr>
          <p:cNvSpPr txBox="1"/>
          <p:nvPr/>
        </p:nvSpPr>
        <p:spPr>
          <a:xfrm>
            <a:off x="695325" y="1125538"/>
            <a:ext cx="94717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Treatment HR = 0.517 [0.339, 0.788] (p-value = 0.002)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Indinavir therapy reduced hazard of AIDS or death by ~48%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Consistent with original finding Hammer et al. (1997)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75B51-60F2-F6BB-64B7-16DFEEE0C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859" y="2391535"/>
            <a:ext cx="7028724" cy="428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519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3FC7-F2FA-CBDE-1A1A-FC2DC927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61015-6527-C28B-3C07-C8E899D1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3621"/>
            <a:ext cx="10515600" cy="777875"/>
          </a:xfrm>
        </p:spPr>
        <p:txBody>
          <a:bodyPr>
            <a:normAutofit/>
          </a:bodyPr>
          <a:lstStyle/>
          <a:p>
            <a:r>
              <a:rPr lang="en-US"/>
              <a:t>Sex Subgroup Interaction Effects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/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𝐺𝑖𝑇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blipFill>
                <a:blip r:embed="rId3"/>
                <a:stretch>
                  <a:fillRect l="-285" b="-7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84A45-C245-A4B2-A76C-F14D7232F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0083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8A661E-9AE4-122A-F84F-F18CDDD9C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97758"/>
              </p:ext>
            </p:extLst>
          </p:nvPr>
        </p:nvGraphicFramePr>
        <p:xfrm>
          <a:off x="864751" y="1811001"/>
          <a:ext cx="4481097" cy="1981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9422">
                  <a:extLst>
                    <a:ext uri="{9D8B030D-6E8A-4147-A177-3AD203B41FA5}">
                      <a16:colId xmlns:a16="http://schemas.microsoft.com/office/drawing/2014/main" val="1446377154"/>
                    </a:ext>
                  </a:extLst>
                </a:gridCol>
                <a:gridCol w="1469510">
                  <a:extLst>
                    <a:ext uri="{9D8B030D-6E8A-4147-A177-3AD203B41FA5}">
                      <a16:colId xmlns:a16="http://schemas.microsoft.com/office/drawing/2014/main" val="82357440"/>
                    </a:ext>
                  </a:extLst>
                </a:gridCol>
                <a:gridCol w="1502165">
                  <a:extLst>
                    <a:ext uri="{9D8B030D-6E8A-4147-A177-3AD203B41FA5}">
                      <a16:colId xmlns:a16="http://schemas.microsoft.com/office/drawing/2014/main" val="363250813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Key Interaction Terms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17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29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728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0.854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9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0.214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65807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F204BF-A6CA-AC9A-D6DF-83AF81F04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250404"/>
              </p:ext>
            </p:extLst>
          </p:nvPr>
        </p:nvGraphicFramePr>
        <p:xfrm>
          <a:off x="864750" y="4062281"/>
          <a:ext cx="4481097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93699">
                  <a:extLst>
                    <a:ext uri="{9D8B030D-6E8A-4147-A177-3AD203B41FA5}">
                      <a16:colId xmlns:a16="http://schemas.microsoft.com/office/drawing/2014/main" val="193391568"/>
                    </a:ext>
                  </a:extLst>
                </a:gridCol>
                <a:gridCol w="1493699">
                  <a:extLst>
                    <a:ext uri="{9D8B030D-6E8A-4147-A177-3AD203B41FA5}">
                      <a16:colId xmlns:a16="http://schemas.microsoft.com/office/drawing/2014/main" val="3093339358"/>
                    </a:ext>
                  </a:extLst>
                </a:gridCol>
                <a:gridCol w="1493699">
                  <a:extLst>
                    <a:ext uri="{9D8B030D-6E8A-4147-A177-3AD203B41FA5}">
                      <a16:colId xmlns:a16="http://schemas.microsoft.com/office/drawing/2014/main" val="4180537643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Group Counts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447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873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809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68704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1E1364-7E83-A549-CA40-262427C2FCD6}"/>
              </a:ext>
            </a:extLst>
          </p:cNvPr>
          <p:cNvSpPr txBox="1"/>
          <p:nvPr/>
        </p:nvSpPr>
        <p:spPr>
          <a:xfrm>
            <a:off x="6096000" y="3675514"/>
            <a:ext cx="5114925" cy="19812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algn="ctr"/>
            <a:r>
              <a:rPr lang="en-US" sz="2000" b="1" dirty="0"/>
              <a:t>Interpretation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Male subgroup is severely underpowered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 Wide CI and unstable HR mean we cannot draw conclusions about male-specific treatment benefit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1289DF-6CC2-991D-D3C8-2A4D9C3C5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848882"/>
              </p:ext>
            </p:extLst>
          </p:nvPr>
        </p:nvGraphicFramePr>
        <p:xfrm>
          <a:off x="6096000" y="1811001"/>
          <a:ext cx="5114926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7463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557463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Sex Interaction Model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LRT p-value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0.2187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Female HR [95% CI]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 [0.288, 0.732]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06777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Male HR [95% CI]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 [0.393, 3.087]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52573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197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086C6-809B-B0EA-42ED-E9FD680A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DD04A-E984-DF96-7ADF-4EF8431A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619" y="173622"/>
            <a:ext cx="10515600" cy="777875"/>
          </a:xfrm>
        </p:spPr>
        <p:txBody>
          <a:bodyPr>
            <a:normAutofit/>
          </a:bodyPr>
          <a:lstStyle/>
          <a:p>
            <a:r>
              <a:rPr lang="en-US" dirty="0"/>
              <a:t>Race Subgroup Interaction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558EE8-F51C-F426-C947-F3C7DA834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3399" y="2103737"/>
            <a:ext cx="4799798" cy="3169919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000" b="1" dirty="0"/>
              <a:t>Interpretation</a:t>
            </a:r>
          </a:p>
          <a:p>
            <a:r>
              <a:rPr lang="en-US" sz="2000" dirty="0"/>
              <a:t>Marginal significant at </a:t>
            </a:r>
            <a:r>
              <a:rPr lang="el-GR" sz="2000" dirty="0"/>
              <a:t>α</a:t>
            </a:r>
            <a:r>
              <a:rPr lang="en-US" sz="2000" dirty="0"/>
              <a:t> = 0.10</a:t>
            </a:r>
          </a:p>
          <a:p>
            <a:r>
              <a:rPr lang="en-US" sz="2000" dirty="0"/>
              <a:t>Only Asian/PI subgroup interaction term is significant but high HR = 15.514 and large CI bounds suggest this is an unstable result</a:t>
            </a:r>
          </a:p>
          <a:p>
            <a:r>
              <a:rPr lang="en-US" sz="2000" dirty="0"/>
              <a:t>Removal would increase p-value</a:t>
            </a:r>
          </a:p>
          <a:p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/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𝐵𝑙𝑎𝑐𝑘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𝐴𝑠𝑖𝑎𝑛𝑃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𝐵𝑙𝑎𝑐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7BF2EBB-9A27-2520-31BD-E5BB29CFB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884917"/>
              </p:ext>
            </p:extLst>
          </p:nvPr>
        </p:nvGraphicFramePr>
        <p:xfrm>
          <a:off x="714619" y="2103738"/>
          <a:ext cx="5810570" cy="3169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04976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400618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  <a:gridCol w="1704976">
                  <a:extLst>
                    <a:ext uri="{9D8B030D-6E8A-4147-A177-3AD203B41FA5}">
                      <a16:colId xmlns:a16="http://schemas.microsoft.com/office/drawing/2014/main" val="4102276423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Race/Ethnicity Interaction Model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LRT p-value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0.0803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 [95% CI]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 Count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5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 [0.303, 0.960]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147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 [0.104, 0.794]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16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 [0.246, 1.602]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086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761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242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897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42F5-37FF-C0D8-951E-1BE6898E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Observed Statistical Power by Subgroup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A42CA-A8A8-290D-369B-5EEC6A420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10515600" cy="411597"/>
          </a:xfrm>
        </p:spPr>
        <p:txBody>
          <a:bodyPr>
            <a:noAutofit/>
          </a:bodyPr>
          <a:lstStyle/>
          <a:p>
            <a:r>
              <a:rPr lang="en-US" sz="2400" b="1" dirty="0"/>
              <a:t>Power is driven by events, not enrollment counts alone</a:t>
            </a:r>
          </a:p>
          <a:p>
            <a:pPr marL="0" indent="0">
              <a:buNone/>
            </a:pPr>
            <a:endParaRPr lang="en-US" sz="2400" dirty="0">
              <a:solidFill>
                <a:srgbClr val="922B21"/>
              </a:solidFill>
            </a:endParaRPr>
          </a:p>
          <a:p>
            <a:endParaRPr lang="en-US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39060A-91A2-8F7B-3E34-7FE281D27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116399"/>
              </p:ext>
            </p:extLst>
          </p:nvPr>
        </p:nvGraphicFramePr>
        <p:xfrm>
          <a:off x="969808" y="1718110"/>
          <a:ext cx="1024111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478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519872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58275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716743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  <a:gridCol w="1461032">
                  <a:extLst>
                    <a:ext uri="{9D8B030D-6E8A-4147-A177-3AD203B41FA5}">
                      <a16:colId xmlns:a16="http://schemas.microsoft.com/office/drawing/2014/main" val="532067782"/>
                    </a:ext>
                  </a:extLst>
                </a:gridCol>
                <a:gridCol w="2077242">
                  <a:extLst>
                    <a:ext uri="{9D8B030D-6E8A-4147-A177-3AD203B41FA5}">
                      <a16:colId xmlns:a16="http://schemas.microsoft.com/office/drawing/2014/main" val="1472557716"/>
                    </a:ext>
                  </a:extLst>
                </a:gridCol>
              </a:tblGrid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Enrollment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8.3%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84.9%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89.7%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48.6%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73.2%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11.5%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53.5%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68.9%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688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F0ADF-05DC-A240-BFA4-4CD142DE3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Statistical Power as a Function of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7D8BD-16F0-7DD6-4A0F-AC08F121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426D61-6BC3-180A-21FC-5BC0CA20C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74" y="1129989"/>
            <a:ext cx="9374735" cy="55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80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C640C-6D05-17CF-4359-F3DA3765A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0496"/>
            <a:ext cx="10515600" cy="774067"/>
          </a:xfrm>
        </p:spPr>
        <p:txBody>
          <a:bodyPr/>
          <a:lstStyle/>
          <a:p>
            <a:r>
              <a:rPr lang="en-US"/>
              <a:t>Required Sample Sizes for 80</a:t>
            </a:r>
            <a:r>
              <a:rPr lang="en-US" dirty="0"/>
              <a:t>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FFF5-C38A-DB34-6AB1-81148C49F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35BD65-15DC-5D6E-6C9B-4F99FB4E8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222400"/>
              </p:ext>
            </p:extLst>
          </p:nvPr>
        </p:nvGraphicFramePr>
        <p:xfrm>
          <a:off x="1031119" y="1125538"/>
          <a:ext cx="10322681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0724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2104771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7399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2142171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2551025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29235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HR: Observed / (Assumed)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Sample Needed for 80%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267 – 11,427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109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447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94 – 4,000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220 – 9,427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10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4B0E-0C9A-2355-5261-9D0EF4280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Conclusions and Implications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7BBBA-584F-B0E1-CAD6-014BE4FB2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7"/>
            <a:ext cx="10515600" cy="4716997"/>
          </a:xfrm>
        </p:spPr>
        <p:txBody>
          <a:bodyPr>
            <a:noAutofit/>
          </a:bodyPr>
          <a:lstStyle/>
          <a:p>
            <a:r>
              <a:rPr lang="en-US" sz="2400" dirty="0"/>
              <a:t>ACTG 320 was adequately powered to measure Overall group and Female subgroup while other groups were underpowered</a:t>
            </a:r>
          </a:p>
          <a:p>
            <a:r>
              <a:rPr lang="en-US" sz="2400" dirty="0"/>
              <a:t>Absence of significant interaction effects does not prove the effects are the same across groups since there was insufficient statistical power due to low event counts</a:t>
            </a:r>
          </a:p>
          <a:p>
            <a:r>
              <a:rPr lang="en-US" sz="2400" dirty="0"/>
              <a:t>Simulated power analysis shows that with such little information available, sample sizes required to achieve 80% statistical power are impractical</a:t>
            </a:r>
          </a:p>
          <a:p>
            <a:r>
              <a:rPr lang="en-US" sz="2400" dirty="0"/>
              <a:t>Future clinical trials should prospectively design subgroup enrollment to achieve subgroup specific power requirements </a:t>
            </a:r>
          </a:p>
          <a:p>
            <a:r>
              <a:rPr lang="en-US" sz="2400" dirty="0"/>
              <a:t>Doing so will help ensure treatment effects can be detected to inform more accurate therapeutic recommendations where warranted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04C5B-7A3B-08C3-C0F2-AB3FF1A8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330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</TotalTime>
  <Words>1677</Words>
  <Application>Microsoft Office PowerPoint</Application>
  <PresentationFormat>Widescreen</PresentationFormat>
  <Paragraphs>335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Represented but Underpowered: Subgroup Inference in the ACTG 320 Trial</vt:lpstr>
      <vt:lpstr>Today’s topics</vt:lpstr>
      <vt:lpstr>Research Questions</vt:lpstr>
      <vt:lpstr>ACTG 320 Study Design (Hammer et al. 1997)</vt:lpstr>
      <vt:lpstr>Participant Group Descriptive Statistics</vt:lpstr>
      <vt:lpstr>Survival Analysis Methods: Cox Proportional Hazard Models</vt:lpstr>
      <vt:lpstr>Full Group Treatment Effect Replication</vt:lpstr>
      <vt:lpstr>Sex Subgroup Interaction Effects</vt:lpstr>
      <vt:lpstr>Race Subgroup Interaction Effects</vt:lpstr>
      <vt:lpstr>Observed Statistical Power by Subgroup</vt:lpstr>
      <vt:lpstr>Statistical Power as a Function of Sample Size</vt:lpstr>
      <vt:lpstr>Required Sample Sizes for 80%</vt:lpstr>
      <vt:lpstr>Conclusions and Implications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Blackburn</dc:creator>
  <cp:lastModifiedBy>Jan Blackburn</cp:lastModifiedBy>
  <cp:revision>11</cp:revision>
  <dcterms:created xsi:type="dcterms:W3CDTF">2026-05-08T21:07:49Z</dcterms:created>
  <dcterms:modified xsi:type="dcterms:W3CDTF">2026-05-10T21:37:12Z</dcterms:modified>
</cp:coreProperties>
</file>