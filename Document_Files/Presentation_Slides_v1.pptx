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6" r:id="rId7"/>
    <p:sldId id="264" r:id="rId8"/>
    <p:sldId id="269" r:id="rId9"/>
    <p:sldId id="261" r:id="rId10"/>
    <p:sldId id="277" r:id="rId11"/>
    <p:sldId id="265" r:id="rId12"/>
    <p:sldId id="270" r:id="rId13"/>
    <p:sldId id="272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615" autoAdjust="0"/>
  </p:normalViewPr>
  <p:slideViewPr>
    <p:cSldViewPr snapToGrid="0" showGuides="1">
      <p:cViewPr varScale="1">
        <p:scale>
          <a:sx n="99" d="100"/>
          <a:sy n="99" d="100"/>
        </p:scale>
        <p:origin x="948" y="78"/>
      </p:cViewPr>
      <p:guideLst>
        <p:guide orient="horz" pos="595"/>
        <p:guide pos="438"/>
        <p:guide orient="horz" pos="709"/>
        <p:guide orient="horz" pos="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94043-31A2-4DE8-BD0D-19AD51635CC7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E9003-360B-4E18-8AA9-F1BCDFEE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5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66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Other Baseline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Baseline CD4 cell count (cells/mm</a:t>
            </a:r>
            <a:r>
              <a:rPr lang="en-US" sz="1200" baseline="30000" dirty="0"/>
              <a:t>3</a:t>
            </a:r>
            <a:r>
              <a:rPr lang="en-US" sz="1200" dirty="0"/>
              <a:t>) measured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Participant age in years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Karnofsky score: A clinical measure of  functional status ranging from 0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Months of prior zidovudine (ZDV) use before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Indicator used for stratified randomization based on CD40 cell count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8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32EB-1BEE-C5FB-EAD2-293E20E4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0AA36-FC30-6D9B-2812-CAAEC4347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BF49E-E432-8465-D8EA-A961ADA76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Other Baseline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Baseline CD4 cell count (cells/mm</a:t>
            </a:r>
            <a:r>
              <a:rPr lang="en-US" sz="1200" baseline="30000" dirty="0"/>
              <a:t>3</a:t>
            </a:r>
            <a:r>
              <a:rPr lang="en-US" sz="1200" dirty="0"/>
              <a:t>) measured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Participant age in years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Karnofsky score: A clinical measure of  functional status ranging from 0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Months of prior zidovudine (ZDV) use before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Indicator used for stratified randomization based on CD40 cell count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0C960-788A-19FF-F26D-7560F9373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88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E9895-5CF1-FECF-8E1D-CCA99FE5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B00E-D696-22EB-7672-C0AC2649C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D7154-CF7A-571A-919F-28EF1338C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Other Baseline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Baseline CD4 cell count (cells/mm</a:t>
            </a:r>
            <a:r>
              <a:rPr lang="en-US" sz="1200" baseline="30000" dirty="0"/>
              <a:t>3</a:t>
            </a:r>
            <a:r>
              <a:rPr lang="en-US" sz="1200" dirty="0"/>
              <a:t>) measured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Participant age in years at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Karnofsky score: A clinical measure of  functional status ranging from 0 to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Months of prior zidovudine (ZDV) use before enrollment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Indicator used for stratified randomization based on CD40 cell count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55DCC-8D43-0A1C-1679-42137EACB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E9003-360B-4E18-8AA9-F1BCDFEE0A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C560-31B0-77EC-429F-C62DF1E85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15472-037B-0E77-BB7B-F4A1E6D87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3F16A-A172-0053-429C-2FFC4D9E1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766A-70DF-4EED-AD06-91C046CCC54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51E7-F6CE-03C5-485A-5DFA3DFD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EADB-FF4E-7819-31A6-85B329F9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2125-55A0-DD12-F085-D6BFFBE6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BF9E8-2E36-E825-08FE-3C98F9EE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3B707-CBF4-EC10-58DB-F7DA8CA9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7FE21-2CD4-4765-8796-2AF547FCD935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1DA9-E69F-B7CD-B15D-8611473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8B6D4-0BC2-2204-E0FE-1639543E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DF4D-64FA-B08B-FF9E-0DF2CEA2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5E306-DF92-3577-39D1-DEDAD2FA9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6772-A0C7-1020-3CD6-4C2F3E34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12C0-F489-429A-AE39-EF60A18F4EB4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16D2E-A55E-0FC5-A69D-D9A62E7D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48F52-8AB9-AEA3-1D07-808CE021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5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8450-C01D-AD75-E21A-B2BA6357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1FCB-B110-77A0-F449-EE9BFE4F4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E209B-6459-C4D8-B9DC-2C1A4FCCF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02A6E-659E-5672-30C4-EA6E2684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1563D-13E1-408D-93AB-67E59C14115F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0F989-C584-82A9-B001-13F6B045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22284-C3CA-3730-0492-3905220B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3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B8D17-E9FC-A0F4-BCAA-E7422240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0B1F0-A448-0099-BC58-BAD6546F2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C9893-8A84-5893-C74B-7D3DA84EC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F76E-7048-2A12-558E-46EE8A805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CBAE6-74A6-4C5D-0CA0-6C9FC9C97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1FEA4-B98B-7EDD-2034-B7CE5DA5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27240-31ED-4540-8622-12CACEE245EE}" type="datetime1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E8AA1-B240-6678-36C1-7F484382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F4FE5-2691-2CF8-4145-C8842F22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2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59A6-7389-5C41-FE80-11A4F7D5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E67D6-B310-7171-1FA4-1E78DC95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3054F-A5B3-4ED5-9CC9-1E82D6C4F216}" type="datetime1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89FB6-B767-3389-C254-56ED1E8BE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FD520-6E4A-18EC-6A5B-6A72FF58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1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B60EE-F87A-4988-FFB0-05904E6A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ABC0E-F129-4245-AA2B-27E08B4EDF8B}" type="datetime1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C1CDB-DECE-4130-FCB9-E0ECA027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25F99-D698-6365-5D22-66B2E871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1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8312-5ED4-C05D-BA5B-BFE31943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3908-A142-AD80-861A-5AD683BE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ABFCD-C27C-8D18-3C4D-164CF8F67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3638E-1C22-DB1D-E4BD-60AC89BD3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681E-A762-4AB5-A6A0-109C767AE03E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86F6C-96D4-E576-9653-25B29BEB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9FBA1-B164-0150-5AC5-C52CD018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1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076E-D6E1-189F-2807-97B282C2A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68E3A-D62A-F512-CCD9-1C5F7BA1E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A6EC8-A91A-5253-DCDD-E2A10AC18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97E1C-EA93-F50F-D49B-BF5A604E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84EF8-0EC5-414E-B27B-6A9E812407A3}" type="datetime1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0A0CD-BD60-2DDF-068A-BC563A14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C4CCC-1743-5F98-212A-480C969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D204-0EDE-ACE8-4967-2F94C10D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EF0AA-989C-1747-0B73-160FC57C7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4BCA-A461-5808-72A8-716EB55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551F4-C417-4178-9C4F-AE395D6DEFF8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628C-0E36-3132-448B-E082F14B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328DA-76BB-104C-11AB-1D4DE6899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0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CCDB4-68E2-9CF2-0AB3-6332D3F2B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593FD-00A4-90F4-2E58-F694B5059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01A15-2B32-98D7-F25D-F6CCEC63C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068D-DD41-4230-AE56-63E074B1D952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6FE5-70F1-5EFE-DB3F-401D5AE4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518F6-CC2B-D9C7-F76E-2B581D51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1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D6913-1F3A-DF50-7816-4411B978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FCB73-2FAC-F2ED-1DA2-CFC51B85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A9949-57E9-24B6-B345-643828A5A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3C63F-9209-4850-A260-94E98C5748EF}" type="datetime1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8C2B-288E-230C-CDF3-18A64E9E8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BE7A-6FBB-A3FB-9732-803B1D214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8427E-3D83-4E05-BBD0-5A5577BF92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8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4BC5359-89EE-EAA3-F872-48E4FD887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B04BD5-13A7-AB46-5A0E-8F0271383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 anchorCtr="0">
            <a:normAutofit fontScale="90000"/>
          </a:bodyPr>
          <a:lstStyle/>
          <a:p>
            <a:pPr algn="l"/>
            <a:r>
              <a:rPr lang="en-US" sz="5300" dirty="0">
                <a:solidFill>
                  <a:srgbClr val="FFFF00"/>
                </a:solidFill>
              </a:rPr>
              <a:t>Dosage Inequity in Clinical Studies: A Power Analysis</a:t>
            </a:r>
            <a:br>
              <a:rPr lang="en-US" dirty="0">
                <a:solidFill>
                  <a:srgbClr val="FFFF00"/>
                </a:solidFill>
              </a:rPr>
            </a:br>
            <a:br>
              <a:rPr lang="en-US" dirty="0">
                <a:solidFill>
                  <a:srgbClr val="FFFF00"/>
                </a:solidFill>
              </a:rPr>
            </a:br>
            <a:r>
              <a:rPr lang="en-US" sz="4400" dirty="0">
                <a:solidFill>
                  <a:srgbClr val="FFFF00"/>
                </a:solidFill>
              </a:rPr>
              <a:t>Replication and Reanalysis</a:t>
            </a:r>
            <a:br>
              <a:rPr lang="en-US" dirty="0">
                <a:solidFill>
                  <a:srgbClr val="FFFF00"/>
                </a:solidFill>
              </a:rPr>
            </a:br>
            <a:br>
              <a:rPr lang="en-US" dirty="0">
                <a:solidFill>
                  <a:srgbClr val="FFFF00"/>
                </a:solidFill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1C4B6-6C90-D09D-061D-48E961F91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050" y="4151314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rgbClr val="FFFF00"/>
                </a:solidFill>
              </a:rPr>
              <a:t>Susan Peck, Jan Blackburn, Joseph Burks</a:t>
            </a:r>
          </a:p>
          <a:p>
            <a:pPr algn="l"/>
            <a:r>
              <a:rPr lang="en-US" sz="2000" dirty="0">
                <a:solidFill>
                  <a:srgbClr val="FFFF00"/>
                </a:solidFill>
              </a:rPr>
              <a:t>Math 261B - Spring 2026</a:t>
            </a:r>
          </a:p>
          <a:p>
            <a:pPr algn="l"/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4391C-AAAC-70C5-37BD-D5C6EB8F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1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2850-9271-D001-4067-F02A6D449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92164"/>
          </a:xfrm>
        </p:spPr>
        <p:txBody>
          <a:bodyPr>
            <a:noAutofit/>
          </a:bodyPr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49DC-CEB1-9804-CE83-BDF1F063C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Objective and Study Summary</a:t>
            </a:r>
          </a:p>
          <a:p>
            <a:r>
              <a:rPr lang="en-US" dirty="0"/>
              <a:t>Survival Analysis Overview</a:t>
            </a:r>
          </a:p>
          <a:p>
            <a:r>
              <a:rPr lang="en-US" dirty="0"/>
              <a:t>Reanalysis and Subgroup Interaction Analysis</a:t>
            </a:r>
          </a:p>
          <a:p>
            <a:r>
              <a:rPr lang="en-US" dirty="0"/>
              <a:t>Power Simulation Analysis</a:t>
            </a:r>
          </a:p>
          <a:p>
            <a:r>
              <a:rPr lang="en-US" dirty="0"/>
              <a:t>Results and 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DD36-D078-ABD8-00E6-AB75E9D9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6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1B8B3-0E96-7DCB-6896-19614CF8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1"/>
            <a:ext cx="10515600" cy="793750"/>
          </a:xfrm>
        </p:spPr>
        <p:txBody>
          <a:bodyPr/>
          <a:lstStyle/>
          <a:p>
            <a:r>
              <a:rPr lang="en-US" dirty="0"/>
              <a:t>Research Objective and Study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495F-9D76-6A7B-8815-8DAF2B5D1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7"/>
            <a:ext cx="10515600" cy="4332287"/>
          </a:xfrm>
        </p:spPr>
        <p:txBody>
          <a:bodyPr>
            <a:normAutofit/>
          </a:bodyPr>
          <a:lstStyle/>
          <a:p>
            <a:r>
              <a:rPr lang="en-US" sz="2000" b="1" dirty="0"/>
              <a:t>Research Objective</a:t>
            </a:r>
          </a:p>
          <a:p>
            <a:pPr lvl="1"/>
            <a:r>
              <a:rPr lang="en-US" sz="2000" dirty="0"/>
              <a:t>Understand how clinical trial underrepresentation of gender and race/ethnic subgroups effect statistical power, its impact on detecting subgroup treatment effect differences and implications for therapeutic recommendations</a:t>
            </a:r>
          </a:p>
          <a:p>
            <a:endParaRPr lang="en-US" sz="2000" b="1" dirty="0"/>
          </a:p>
          <a:p>
            <a:r>
              <a:rPr lang="en-US" sz="2000" b="1" dirty="0"/>
              <a:t>Using ACTG 320 (Hammer et. al, 1997) as a case study</a:t>
            </a:r>
          </a:p>
          <a:p>
            <a:pPr lvl="1"/>
            <a:r>
              <a:rPr lang="en-US" sz="2000" b="1" dirty="0"/>
              <a:t>Purpose: </a:t>
            </a:r>
            <a:r>
              <a:rPr lang="en-US" sz="2000" dirty="0"/>
              <a:t>Study impact on HIV by introducing </a:t>
            </a:r>
            <a:r>
              <a:rPr lang="en-US" sz="2000" dirty="0" err="1"/>
              <a:t>indivir</a:t>
            </a:r>
            <a:r>
              <a:rPr lang="en-US" sz="2000" dirty="0"/>
              <a:t> to existing baseline therapy</a:t>
            </a:r>
          </a:p>
          <a:p>
            <a:pPr lvl="1"/>
            <a:r>
              <a:rPr lang="en-US" sz="2000" b="1" dirty="0"/>
              <a:t>Structure: </a:t>
            </a:r>
            <a:r>
              <a:rPr lang="en-US" sz="2000" dirty="0"/>
              <a:t>Multi-center, randomized, double blind, placebo- controlled study with 1,196 subjects enrolled</a:t>
            </a:r>
          </a:p>
          <a:p>
            <a:pPr lvl="1"/>
            <a:r>
              <a:rPr lang="en-US" sz="2000" b="1" dirty="0"/>
              <a:t>Response Variable: </a:t>
            </a:r>
            <a:r>
              <a:rPr lang="en-US" sz="2000" dirty="0"/>
              <a:t>Time-to-event for participants to acquire AIDS related disease or death</a:t>
            </a:r>
          </a:p>
          <a:p>
            <a:pPr lvl="1"/>
            <a:r>
              <a:rPr lang="en-US" sz="2000" b="1" dirty="0"/>
              <a:t>Effect Variables: </a:t>
            </a:r>
            <a:r>
              <a:rPr lang="en-US" sz="2000" dirty="0"/>
              <a:t>Treatment group + other covariates tracked by sex and race/ethnicity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9910FF-746C-960C-1312-C8E46C89F1B9}"/>
              </a:ext>
            </a:extLst>
          </p:cNvPr>
          <p:cNvSpPr txBox="1"/>
          <p:nvPr/>
        </p:nvSpPr>
        <p:spPr>
          <a:xfrm>
            <a:off x="1736259" y="5864781"/>
            <a:ext cx="8792536" cy="369332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Statistical analysis of Clinical Trial data requires used of tools found in Survival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09A4A-7E31-EA06-8416-CE8FF91C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38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D9DDB-19B9-8464-3156-521E0856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175143"/>
            <a:ext cx="10515600" cy="787400"/>
          </a:xfrm>
        </p:spPr>
        <p:txBody>
          <a:bodyPr/>
          <a:lstStyle/>
          <a:p>
            <a:r>
              <a:rPr lang="en-US" dirty="0"/>
              <a:t>Survival Analysis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994CA0-5195-2401-F07D-F07F2B8C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85" b="23690"/>
          <a:stretch>
            <a:fillRect/>
          </a:stretch>
        </p:blipFill>
        <p:spPr>
          <a:xfrm>
            <a:off x="714374" y="1152526"/>
            <a:ext cx="11269940" cy="50958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A7CEE6-D0AF-2E3E-3A26-41F3F7F35088}"/>
              </a:ext>
            </a:extLst>
          </p:cNvPr>
          <p:cNvSpPr txBox="1"/>
          <p:nvPr/>
        </p:nvSpPr>
        <p:spPr>
          <a:xfrm>
            <a:off x="838200" y="6420921"/>
            <a:ext cx="2644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Image generated by ChatGPT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7CA589F-3C86-7DF3-6465-04CBD0F8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9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F2B7-E309-7D90-A163-C7269D47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6214"/>
            <a:ext cx="10515600" cy="768350"/>
          </a:xfrm>
        </p:spPr>
        <p:txBody>
          <a:bodyPr/>
          <a:lstStyle/>
          <a:p>
            <a:r>
              <a:rPr lang="en-US" dirty="0"/>
              <a:t>Cox Proportional Hazard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66E12-F496-D998-82BB-41E87AE91F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4" y="944563"/>
            <a:ext cx="10658475" cy="5308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22C7B1-D18A-8B52-6A3F-F97F579B72FF}"/>
              </a:ext>
            </a:extLst>
          </p:cNvPr>
          <p:cNvSpPr txBox="1"/>
          <p:nvPr/>
        </p:nvSpPr>
        <p:spPr>
          <a:xfrm>
            <a:off x="838200" y="6492875"/>
            <a:ext cx="2644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Image generated by ChatGPT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5585A6-A6DC-664A-3F82-D3A79D17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07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3100-90A6-3B48-D878-A245E4C3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1016"/>
            <a:ext cx="10515600" cy="773547"/>
          </a:xfrm>
        </p:spPr>
        <p:txBody>
          <a:bodyPr/>
          <a:lstStyle/>
          <a:p>
            <a:r>
              <a:rPr lang="en-US" dirty="0"/>
              <a:t>Hazard Ratios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D1FF9-52DE-48DF-78F3-B5AE1CF6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2A984-7429-5B9D-F336-B70AA30E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6" y="877141"/>
            <a:ext cx="10515600" cy="56617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6D31E0-6560-14E4-B6EF-12DAA5B328A9}"/>
              </a:ext>
            </a:extLst>
          </p:cNvPr>
          <p:cNvSpPr txBox="1"/>
          <p:nvPr/>
        </p:nvSpPr>
        <p:spPr>
          <a:xfrm>
            <a:off x="838200" y="6523543"/>
            <a:ext cx="2644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Image generated by ChatGPT</a:t>
            </a:r>
          </a:p>
        </p:txBody>
      </p:sp>
    </p:spTree>
    <p:extLst>
      <p:ext uri="{BB962C8B-B14F-4D97-AF65-F5344CB8AC3E}">
        <p14:creationId xmlns:p14="http://schemas.microsoft.com/office/powerpoint/2010/main" val="429007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9CDD-F246-B64A-97B6-5EC20998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89548"/>
            <a:ext cx="10515600" cy="755015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Subgroup Effects: Likelihood Ratio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91F8A-D0D5-EC3B-37C6-C8D6062CADA8}"/>
              </a:ext>
            </a:extLst>
          </p:cNvPr>
          <p:cNvSpPr txBox="1"/>
          <p:nvPr/>
        </p:nvSpPr>
        <p:spPr>
          <a:xfrm>
            <a:off x="838200" y="6523543"/>
            <a:ext cx="2644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Image generated by ChatGPT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BDDB60-E98D-FAE0-B07E-5EFCBA6A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57F865-C81D-5806-B443-CC3BD3ED2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63" y="944563"/>
            <a:ext cx="9931940" cy="551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2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CF84-53F6-946A-CA94-D30D0DCA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Participant Group Descriptive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8DF3C-B02D-A675-3F9E-6D1D076C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8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01D18C1-51AF-6E63-58BF-9AC523E15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4406064" cy="5051425"/>
          </a:xfrm>
        </p:spPr>
        <p:txBody>
          <a:bodyPr>
            <a:normAutofit/>
          </a:bodyPr>
          <a:lstStyle/>
          <a:p>
            <a:r>
              <a:rPr lang="en-US" sz="2000" dirty="0"/>
              <a:t>Study was well balanced between control and treatment groups</a:t>
            </a:r>
          </a:p>
          <a:p>
            <a:r>
              <a:rPr lang="en-US" sz="2000" dirty="0"/>
              <a:t>Female participants made up 83% of sample</a:t>
            </a:r>
          </a:p>
          <a:p>
            <a:r>
              <a:rPr lang="en-US" sz="2000" dirty="0"/>
              <a:t>Whites made up 52% of total participants</a:t>
            </a:r>
          </a:p>
          <a:p>
            <a:r>
              <a:rPr lang="en-US" sz="2000" dirty="0"/>
              <a:t>Low event rates in subgroups will have an impact on the statistical power of subgroup tests</a:t>
            </a: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B4D5DA4C-982E-79DE-5E7B-67D1EB78B02A}"/>
              </a:ext>
            </a:extLst>
          </p:cNvPr>
          <p:cNvGraphicFramePr>
            <a:graphicFrameLocks/>
          </p:cNvGraphicFramePr>
          <p:nvPr/>
        </p:nvGraphicFramePr>
        <p:xfrm>
          <a:off x="5207568" y="1125538"/>
          <a:ext cx="55342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558">
                  <a:extLst>
                    <a:ext uri="{9D8B030D-6E8A-4147-A177-3AD203B41FA5}">
                      <a16:colId xmlns:a16="http://schemas.microsoft.com/office/drawing/2014/main" val="3114019077"/>
                    </a:ext>
                  </a:extLst>
                </a:gridCol>
                <a:gridCol w="1275125">
                  <a:extLst>
                    <a:ext uri="{9D8B030D-6E8A-4147-A177-3AD203B41FA5}">
                      <a16:colId xmlns:a16="http://schemas.microsoft.com/office/drawing/2014/main" val="920085322"/>
                    </a:ext>
                  </a:extLst>
                </a:gridCol>
                <a:gridCol w="1683544">
                  <a:extLst>
                    <a:ext uri="{9D8B030D-6E8A-4147-A177-3AD203B41FA5}">
                      <a16:colId xmlns:a16="http://schemas.microsoft.com/office/drawing/2014/main" val="3444253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Treatment 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633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Control (no indinavir)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189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Treatment (indinavir)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856691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0AAC7BB-3306-5666-DBED-3DD23E1C2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04169"/>
              </p:ext>
            </p:extLst>
          </p:nvPr>
        </p:nvGraphicFramePr>
        <p:xfrm>
          <a:off x="5207568" y="2788444"/>
          <a:ext cx="671591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869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462024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307228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417896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1417896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% of Sample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Event Rate 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82.6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51.8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 err="1"/>
                        <a:t>Blck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28.4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17.6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21.4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  <a:tr h="185339">
                <a:tc>
                  <a:txBody>
                    <a:bodyPr/>
                    <a:lstStyle/>
                    <a:p>
                      <a:r>
                        <a:rPr lang="en-US" sz="1600" b="1" dirty="0"/>
                        <a:t>Total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100%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8.3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812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887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E2E1-09E4-5A83-00A3-78180B6E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658475" cy="777876"/>
          </a:xfrm>
        </p:spPr>
        <p:txBody>
          <a:bodyPr>
            <a:normAutofit/>
          </a:bodyPr>
          <a:lstStyle/>
          <a:p>
            <a:r>
              <a:rPr lang="en-US" dirty="0"/>
              <a:t>Modeling Full Group Treatment Effect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94A581-90F6-9EAC-3C64-DB3905DE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66483"/>
            <a:ext cx="3915586" cy="2770249"/>
          </a:xfrm>
        </p:spPr>
        <p:txBody>
          <a:bodyPr>
            <a:noAutofit/>
          </a:bodyPr>
          <a:lstStyle/>
          <a:p>
            <a:r>
              <a:rPr lang="en-US" sz="2000" dirty="0"/>
              <a:t>Replicated modeling of hazard using Cox Proportional hazard model for full group excluding any subgroup variables</a:t>
            </a:r>
          </a:p>
          <a:p>
            <a:r>
              <a:rPr lang="en-US" sz="2000" dirty="0"/>
              <a:t>Treatment HR = 0.517 (p-value = 0.002) indicating  the treatment group hazard is nearly half of the control group and consistent with original study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/>
              <p:nvPr/>
            </p:nvSpPr>
            <p:spPr>
              <a:xfrm>
                <a:off x="4101473" y="5363130"/>
                <a:ext cx="3095527" cy="280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BB0088-6ED7-1668-D992-3009A5A3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473" y="5363130"/>
                <a:ext cx="3095527" cy="280846"/>
              </a:xfrm>
              <a:prstGeom prst="rect">
                <a:avLst/>
              </a:prstGeom>
              <a:blipFill>
                <a:blip r:embed="rId3"/>
                <a:stretch>
                  <a:fillRect l="-1575" r="-2362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CEE9428-B252-FF55-2CC5-D24EF1F3C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09945"/>
              </p:ext>
            </p:extLst>
          </p:nvPr>
        </p:nvGraphicFramePr>
        <p:xfrm>
          <a:off x="4922198" y="1494870"/>
          <a:ext cx="689769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175">
                  <a:extLst>
                    <a:ext uri="{9D8B030D-6E8A-4147-A177-3AD203B41FA5}">
                      <a16:colId xmlns:a16="http://schemas.microsoft.com/office/drawing/2014/main" val="75012015"/>
                    </a:ext>
                  </a:extLst>
                </a:gridCol>
                <a:gridCol w="1254836">
                  <a:extLst>
                    <a:ext uri="{9D8B030D-6E8A-4147-A177-3AD203B41FA5}">
                      <a16:colId xmlns:a16="http://schemas.microsoft.com/office/drawing/2014/main" val="3497336759"/>
                    </a:ext>
                  </a:extLst>
                </a:gridCol>
                <a:gridCol w="1376972">
                  <a:extLst>
                    <a:ext uri="{9D8B030D-6E8A-4147-A177-3AD203B41FA5}">
                      <a16:colId xmlns:a16="http://schemas.microsoft.com/office/drawing/2014/main" val="2925896864"/>
                    </a:ext>
                  </a:extLst>
                </a:gridCol>
                <a:gridCol w="1383875">
                  <a:extLst>
                    <a:ext uri="{9D8B030D-6E8A-4147-A177-3AD203B41FA5}">
                      <a16:colId xmlns:a16="http://schemas.microsoft.com/office/drawing/2014/main" val="840471265"/>
                    </a:ext>
                  </a:extLst>
                </a:gridCol>
                <a:gridCol w="1254836">
                  <a:extLst>
                    <a:ext uri="{9D8B030D-6E8A-4147-A177-3AD203B41FA5}">
                      <a16:colId xmlns:a16="http://schemas.microsoft.com/office/drawing/2014/main" val="345428938"/>
                    </a:ext>
                  </a:extLst>
                </a:gridCol>
              </a:tblGrid>
              <a:tr h="199505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98686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Covariate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Upper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p-value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681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Treatment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0.339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0.788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0.002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4089767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Age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1.022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1.045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0.054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6138845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Baseline CD4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0.985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0.978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0.993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1557607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Karnofsky Score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0.948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0.926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0.970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584953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Prior ZDV Use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0.992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1.007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0.925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0456862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CD4 Stratum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1.012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1.984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0.871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591253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2E08789-761B-AE34-8E3C-9EE5849A2F02}"/>
              </a:ext>
            </a:extLst>
          </p:cNvPr>
          <p:cNvSpPr txBox="1"/>
          <p:nvPr/>
        </p:nvSpPr>
        <p:spPr>
          <a:xfrm>
            <a:off x="4215176" y="4993798"/>
            <a:ext cx="242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 Group Cox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F3E546-8E9A-F516-1224-5B551151CF39}"/>
              </a:ext>
            </a:extLst>
          </p:cNvPr>
          <p:cNvSpPr txBox="1"/>
          <p:nvPr/>
        </p:nvSpPr>
        <p:spPr>
          <a:xfrm>
            <a:off x="4922198" y="1125538"/>
            <a:ext cx="689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for Full Group Cox Model</a:t>
            </a: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8CFC45BE-AEFD-6C78-962A-7C47ACA6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8066-35D1-5050-5E83-718DD9BD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ACTG320 Kaplan-Meier Survival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1ABDC-CAC7-B353-E77C-535CDC03C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4" y="1125537"/>
            <a:ext cx="3818309" cy="4630369"/>
          </a:xfrm>
        </p:spPr>
        <p:txBody>
          <a:bodyPr>
            <a:noAutofit/>
          </a:bodyPr>
          <a:lstStyle/>
          <a:p>
            <a:r>
              <a:rPr lang="en-US" sz="2000" dirty="0"/>
              <a:t>Primary effect survival curve shows slower progression and reduced risk due to indinavir treatment on the overall group</a:t>
            </a:r>
          </a:p>
          <a:p>
            <a:r>
              <a:rPr lang="en-US" sz="2000" dirty="0"/>
              <a:t>The HR = 0.517 reflects the ratio of the hazards between the treatment group and control group when considering other key covariates</a:t>
            </a:r>
          </a:p>
          <a:p>
            <a:r>
              <a:rPr lang="en-US" sz="2000" dirty="0"/>
              <a:t>Subsequent analysis will evaluate if this ratio is meaningfully different within the sex or race/ethnicity subgroups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E72A9-AF62-B564-1DDA-4DCBC68A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52276-E30A-3C05-70E5-CAD2BE3E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8"/>
          <a:stretch>
            <a:fillRect/>
          </a:stretch>
        </p:blipFill>
        <p:spPr>
          <a:xfrm>
            <a:off x="4768851" y="1125538"/>
            <a:ext cx="7086273" cy="393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51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3FC7-F2FA-CBDE-1A1A-FC2DC927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1015-6527-C28B-3C07-C8E899D1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3621"/>
            <a:ext cx="10515600" cy="777875"/>
          </a:xfrm>
        </p:spPr>
        <p:txBody>
          <a:bodyPr>
            <a:normAutofit/>
          </a:bodyPr>
          <a:lstStyle/>
          <a:p>
            <a:r>
              <a:rPr lang="en-US" dirty="0"/>
              <a:t>Sex Subgroup Interaction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C29A07-C71C-21F6-309D-EAD191597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49382"/>
            <a:ext cx="4290561" cy="3722132"/>
          </a:xfrm>
        </p:spPr>
        <p:txBody>
          <a:bodyPr>
            <a:noAutofit/>
          </a:bodyPr>
          <a:lstStyle/>
          <a:p>
            <a:r>
              <a:rPr lang="en-US" sz="2000" dirty="0"/>
              <a:t>Females are the reference group</a:t>
            </a:r>
          </a:p>
          <a:p>
            <a:r>
              <a:rPr lang="en-US" sz="2000" dirty="0"/>
              <a:t>Interaction hazard ratio is 2.034 suggests that treatment is less effective for male patients</a:t>
            </a:r>
          </a:p>
          <a:p>
            <a:r>
              <a:rPr lang="en-US" sz="2000" dirty="0"/>
              <a:t>p-value is 0.214 and so is not significant </a:t>
            </a:r>
          </a:p>
          <a:p>
            <a:r>
              <a:rPr lang="en-US" sz="2000" dirty="0"/>
              <a:t>The likelihood ratio test p-value = 0.2187 so the null hypothesis is not rejected and conclude interaction effects are the same for both female and male participants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DD051A3-68E9-A788-9D14-80BE76220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35570"/>
              </p:ext>
            </p:extLst>
          </p:nvPr>
        </p:nvGraphicFramePr>
        <p:xfrm>
          <a:off x="5369459" y="1518714"/>
          <a:ext cx="6529496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646">
                  <a:extLst>
                    <a:ext uri="{9D8B030D-6E8A-4147-A177-3AD203B41FA5}">
                      <a16:colId xmlns:a16="http://schemas.microsoft.com/office/drawing/2014/main" val="75012015"/>
                    </a:ext>
                  </a:extLst>
                </a:gridCol>
                <a:gridCol w="1080874">
                  <a:extLst>
                    <a:ext uri="{9D8B030D-6E8A-4147-A177-3AD203B41FA5}">
                      <a16:colId xmlns:a16="http://schemas.microsoft.com/office/drawing/2014/main" val="3497336759"/>
                    </a:ext>
                  </a:extLst>
                </a:gridCol>
                <a:gridCol w="1186078">
                  <a:extLst>
                    <a:ext uri="{9D8B030D-6E8A-4147-A177-3AD203B41FA5}">
                      <a16:colId xmlns:a16="http://schemas.microsoft.com/office/drawing/2014/main" val="2925896864"/>
                    </a:ext>
                  </a:extLst>
                </a:gridCol>
                <a:gridCol w="1192024">
                  <a:extLst>
                    <a:ext uri="{9D8B030D-6E8A-4147-A177-3AD203B41FA5}">
                      <a16:colId xmlns:a16="http://schemas.microsoft.com/office/drawing/2014/main" val="840471265"/>
                    </a:ext>
                  </a:extLst>
                </a:gridCol>
                <a:gridCol w="1080874">
                  <a:extLst>
                    <a:ext uri="{9D8B030D-6E8A-4147-A177-3AD203B41FA5}">
                      <a16:colId xmlns:a16="http://schemas.microsoft.com/office/drawing/2014/main" val="345428938"/>
                    </a:ext>
                  </a:extLst>
                </a:gridCol>
              </a:tblGrid>
              <a:tr h="22951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98686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Covariate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Upper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p-value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681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Treatment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0.460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0.288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0.734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0.001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4089767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Sex (Male v. Female)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0.854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0.405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1.801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0.679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190595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Treatment x Sex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2.034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0.663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6.238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0.214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929591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Age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1.023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1.046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0.050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6138845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Baseline CD4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0.985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0.978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0.993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0.000*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1557607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Karnofsky Score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0.947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0.925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0.969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0.000*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584953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Prior ZDV Use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0.999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0.992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1.007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0.865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0456862"/>
                  </a:ext>
                </a:extLst>
              </a:tr>
              <a:tr h="229518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CD4 Stratum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1.011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0.516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1.978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0.975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591253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4A45-C245-A4B2-A76C-F14D7232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00830"/>
            <a:ext cx="2743200" cy="365125"/>
          </a:xfrm>
        </p:spPr>
        <p:txBody>
          <a:bodyPr/>
          <a:lstStyle/>
          <a:p>
            <a:fld id="{EE78427E-3D83-4E05-BBD0-5A5577BF92C2}" type="slidenum">
              <a:rPr lang="en-US" smtClean="0"/>
              <a:t>11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08C113-F019-393C-91C1-A602CBC7F3A9}"/>
              </a:ext>
            </a:extLst>
          </p:cNvPr>
          <p:cNvSpPr txBox="1"/>
          <p:nvPr/>
        </p:nvSpPr>
        <p:spPr>
          <a:xfrm>
            <a:off x="5369459" y="1149382"/>
            <a:ext cx="6482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for Sex Subgroup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05178-E6F6-4B26-D5C7-23B96CB4C120}"/>
              </a:ext>
            </a:extLst>
          </p:cNvPr>
          <p:cNvSpPr txBox="1"/>
          <p:nvPr/>
        </p:nvSpPr>
        <p:spPr>
          <a:xfrm>
            <a:off x="5369459" y="4945481"/>
            <a:ext cx="847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rounded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/>
              <p:nvPr/>
            </p:nvSpPr>
            <p:spPr>
              <a:xfrm>
                <a:off x="3052511" y="5893284"/>
                <a:ext cx="4633896" cy="2822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78F996-AFB0-F08F-0BCD-33ECE21E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511" y="5893284"/>
                <a:ext cx="4633896" cy="282257"/>
              </a:xfrm>
              <a:prstGeom prst="rect">
                <a:avLst/>
              </a:prstGeom>
              <a:blipFill>
                <a:blip r:embed="rId3"/>
                <a:stretch>
                  <a:fillRect t="-2174" r="-26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6C1A433-6389-EFFC-153A-79F385BDB90E}"/>
              </a:ext>
            </a:extLst>
          </p:cNvPr>
          <p:cNvSpPr txBox="1"/>
          <p:nvPr/>
        </p:nvSpPr>
        <p:spPr>
          <a:xfrm>
            <a:off x="3162159" y="5523952"/>
            <a:ext cx="44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Sex Subgroup Cox Model</a:t>
            </a:r>
          </a:p>
        </p:txBody>
      </p:sp>
    </p:spTree>
    <p:extLst>
      <p:ext uri="{BB962C8B-B14F-4D97-AF65-F5344CB8AC3E}">
        <p14:creationId xmlns:p14="http://schemas.microsoft.com/office/powerpoint/2010/main" val="53619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086C6-809B-B0EA-42ED-E9FD680A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D04A-E984-DF96-7ADF-4EF8431A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19" y="173622"/>
            <a:ext cx="10515600" cy="777875"/>
          </a:xfrm>
        </p:spPr>
        <p:txBody>
          <a:bodyPr>
            <a:normAutofit/>
          </a:bodyPr>
          <a:lstStyle/>
          <a:p>
            <a:r>
              <a:rPr lang="en-US" dirty="0"/>
              <a:t>Race Subgroup Interaction Effects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558EE8-F51C-F426-C947-F3C7DA83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19" y="1151806"/>
            <a:ext cx="4454147" cy="3814829"/>
          </a:xfrm>
        </p:spPr>
        <p:txBody>
          <a:bodyPr>
            <a:noAutofit/>
          </a:bodyPr>
          <a:lstStyle/>
          <a:p>
            <a:r>
              <a:rPr lang="en-US" sz="2000" dirty="0"/>
              <a:t>Asian/PI subgroup interaction term is significant but high HR = 15.514 and large CI bounds suggest this is an unstable result</a:t>
            </a:r>
          </a:p>
          <a:p>
            <a:r>
              <a:rPr lang="en-US" sz="2000" dirty="0"/>
              <a:t>The likelihood ratio test reports a p-value = 0.0803 which is marginally significant </a:t>
            </a:r>
          </a:p>
          <a:p>
            <a:r>
              <a:rPr lang="en-US" sz="2000" dirty="0"/>
              <a:t>This p-value would likely be higher if unstable results were removed</a:t>
            </a:r>
          </a:p>
          <a:p>
            <a:r>
              <a:rPr lang="en-US" sz="2000" dirty="0"/>
              <a:t>So the null hypothesis is not rejected and conclude that treatment effect does not vary by race subgroup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/>
              <p:nvPr/>
            </p:nvSpPr>
            <p:spPr>
              <a:xfrm>
                <a:off x="2096452" y="6206264"/>
                <a:ext cx="6048375" cy="4351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𝐵𝑙𝑎𝑐𝑘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𝐴𝑠𝑖𝑎𝑛𝑃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𝐵𝑙𝑎𝑐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𝐻𝑖𝑠𝑝𝑎𝑛𝑖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𝐴𝑠𝑖𝑎𝑛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𝑂𝑡h𝑒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16B4FE-F53E-D0FE-5FA3-D6C491A2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452" y="6206264"/>
                <a:ext cx="6048375" cy="435184"/>
              </a:xfrm>
              <a:prstGeom prst="rect">
                <a:avLst/>
              </a:prstGeom>
              <a:blipFill>
                <a:blip r:embed="rId3"/>
                <a:stretch>
                  <a:fillRect b="-16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38E6D24-51BB-3B6A-2834-A755107242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81592"/>
              </p:ext>
            </p:extLst>
          </p:nvPr>
        </p:nvGraphicFramePr>
        <p:xfrm>
          <a:off x="5573027" y="1464092"/>
          <a:ext cx="6249799" cy="39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995">
                  <a:extLst>
                    <a:ext uri="{9D8B030D-6E8A-4147-A177-3AD203B41FA5}">
                      <a16:colId xmlns:a16="http://schemas.microsoft.com/office/drawing/2014/main" val="75012015"/>
                    </a:ext>
                  </a:extLst>
                </a:gridCol>
                <a:gridCol w="995451">
                  <a:extLst>
                    <a:ext uri="{9D8B030D-6E8A-4147-A177-3AD203B41FA5}">
                      <a16:colId xmlns:a16="http://schemas.microsoft.com/office/drawing/2014/main" val="3497336759"/>
                    </a:ext>
                  </a:extLst>
                </a:gridCol>
                <a:gridCol w="995451">
                  <a:extLst>
                    <a:ext uri="{9D8B030D-6E8A-4147-A177-3AD203B41FA5}">
                      <a16:colId xmlns:a16="http://schemas.microsoft.com/office/drawing/2014/main" val="2925896864"/>
                    </a:ext>
                  </a:extLst>
                </a:gridCol>
                <a:gridCol w="995451">
                  <a:extLst>
                    <a:ext uri="{9D8B030D-6E8A-4147-A177-3AD203B41FA5}">
                      <a16:colId xmlns:a16="http://schemas.microsoft.com/office/drawing/2014/main" val="840471265"/>
                    </a:ext>
                  </a:extLst>
                </a:gridCol>
                <a:gridCol w="995451">
                  <a:extLst>
                    <a:ext uri="{9D8B030D-6E8A-4147-A177-3AD203B41FA5}">
                      <a16:colId xmlns:a16="http://schemas.microsoft.com/office/drawing/2014/main" val="345428938"/>
                    </a:ext>
                  </a:extLst>
                </a:gridCol>
              </a:tblGrid>
              <a:tr h="154434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95% CI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398686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Covariate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HR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Lower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Upper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p-value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9681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Treatment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0.534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0.946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0.032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4089767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Race: Black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0.794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0.432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1.457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0.456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576933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Race: Hispanic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1.002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0.524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1.914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0.995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3780662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Race: Asian/PI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0.860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0.117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6.317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0.882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003520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Race: Other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2.831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0.378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21.227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0.311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5301058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Treatment x Black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0.591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0.185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1.883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0.373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462264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Treatment x Hispanic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1.249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0.422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3.698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0.687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996622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Treatment x Asian/PI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15.514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1.244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193.477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0.033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3886507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Treatment x Other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0.000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0.000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Inf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0.983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2345150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Age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1.024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1.001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1.048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0.038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16138845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Baseline CD4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0.985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0.978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0.993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0.000*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1557607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Karnofsky Score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0.948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0.927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0.971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0.000*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8584953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Prior ZDV Use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0.997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0.989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1.005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0.467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0456862"/>
                  </a:ext>
                </a:extLst>
              </a:tr>
              <a:tr h="15443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CD4 Stratum</a:t>
                      </a:r>
                    </a:p>
                  </a:txBody>
                  <a:tcPr marT="18000" marB="18000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1.010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0.513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1.986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0.978</a:t>
                      </a:r>
                    </a:p>
                  </a:txBody>
                  <a:tcPr marT="18000" marB="18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5912534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D65BF5D-D24E-C8A8-3F69-53691FEC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19253"/>
            <a:ext cx="2743200" cy="365125"/>
          </a:xfrm>
        </p:spPr>
        <p:txBody>
          <a:bodyPr/>
          <a:lstStyle/>
          <a:p>
            <a:fld id="{EE78427E-3D83-4E05-BBD0-5A5577BF92C2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3BE0F-7CAD-1A1E-88BD-60CE3EB0F257}"/>
              </a:ext>
            </a:extLst>
          </p:cNvPr>
          <p:cNvSpPr txBox="1"/>
          <p:nvPr/>
        </p:nvSpPr>
        <p:spPr>
          <a:xfrm>
            <a:off x="5548521" y="5435978"/>
            <a:ext cx="847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 rounded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DA072-5B03-8207-A25F-6A3A52F820AC}"/>
              </a:ext>
            </a:extLst>
          </p:cNvPr>
          <p:cNvSpPr txBox="1"/>
          <p:nvPr/>
        </p:nvSpPr>
        <p:spPr>
          <a:xfrm>
            <a:off x="5573025" y="1125538"/>
            <a:ext cx="6249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Results for Race Subgroup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/>
              <a:t>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B5008-F27A-2DA5-2ECC-C433EB6C1033}"/>
              </a:ext>
            </a:extLst>
          </p:cNvPr>
          <p:cNvSpPr txBox="1"/>
          <p:nvPr/>
        </p:nvSpPr>
        <p:spPr>
          <a:xfrm>
            <a:off x="2077158" y="5836932"/>
            <a:ext cx="59852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b="1" dirty="0"/>
              <a:t>Race Subgroup Cox Model</a:t>
            </a:r>
          </a:p>
        </p:txBody>
      </p:sp>
    </p:spTree>
    <p:extLst>
      <p:ext uri="{BB962C8B-B14F-4D97-AF65-F5344CB8AC3E}">
        <p14:creationId xmlns:p14="http://schemas.microsoft.com/office/powerpoint/2010/main" val="2718977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42F5-37FF-C0D8-951E-1BE6898E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Baseline Power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42CA-A8A8-290D-369B-5EEC6A420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10515600" cy="1969610"/>
          </a:xfrm>
        </p:spPr>
        <p:txBody>
          <a:bodyPr>
            <a:noAutofit/>
          </a:bodyPr>
          <a:lstStyle/>
          <a:p>
            <a:r>
              <a:rPr lang="en-US" sz="2000" dirty="0"/>
              <a:t>Since clinical trials measure time-to-event, inference is based on number of events instead of sample size</a:t>
            </a:r>
          </a:p>
          <a:p>
            <a:r>
              <a:rPr lang="en-US" sz="2000" dirty="0"/>
              <a:t>The ACTG 320 study did not provide any explicit power analyses, so the power was estimated based on observed actuals</a:t>
            </a:r>
          </a:p>
          <a:p>
            <a:r>
              <a:rPr lang="en-US" sz="2000" dirty="0"/>
              <a:t>Only the Overall and Female groups were powered above 80%; all other groups were underpowered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C1431-8FD9-C781-A83F-5295900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6C89B-2EDC-A75D-28B3-2016BB419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056462"/>
              </p:ext>
            </p:extLst>
          </p:nvPr>
        </p:nvGraphicFramePr>
        <p:xfrm>
          <a:off x="1873804" y="3276123"/>
          <a:ext cx="844439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505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945443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360925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476139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  <a:gridCol w="1256266">
                  <a:extLst>
                    <a:ext uri="{9D8B030D-6E8A-4147-A177-3AD203B41FA5}">
                      <a16:colId xmlns:a16="http://schemas.microsoft.com/office/drawing/2014/main" val="532067782"/>
                    </a:ext>
                  </a:extLst>
                </a:gridCol>
                <a:gridCol w="1786113">
                  <a:extLst>
                    <a:ext uri="{9D8B030D-6E8A-4147-A177-3AD203B41FA5}">
                      <a16:colId xmlns:a16="http://schemas.microsoft.com/office/drawing/2014/main" val="1472557716"/>
                    </a:ext>
                  </a:extLst>
                </a:gridCol>
              </a:tblGrid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Observed HR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Event Rate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Observed Power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0.839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0096817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0.459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0.897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1.101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0.075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0.020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0.486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0.287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0.732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0.628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0.099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0.115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0.535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241000">
                <a:tc>
                  <a:txBody>
                    <a:bodyPr/>
                    <a:lstStyle/>
                    <a:p>
                      <a:r>
                        <a:rPr lang="en-US" sz="14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237.311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0.091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0.689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688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0ADF-05DC-A240-BFA4-4CD142DE3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Power Simulation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C7B58-8EED-5CB8-761C-E468C9DA4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8"/>
            <a:ext cx="10515600" cy="3051175"/>
          </a:xfrm>
        </p:spPr>
        <p:txBody>
          <a:bodyPr>
            <a:normAutofit fontScale="92500"/>
          </a:bodyPr>
          <a:lstStyle/>
          <a:p>
            <a:r>
              <a:rPr lang="en-US" dirty="0"/>
              <a:t>Preliminary simulation analysis shows that many of the subgroups were significantly under powered, undermining in the efficacy of the hypothesis tests for subgroup treatment effect analyses</a:t>
            </a:r>
          </a:p>
          <a:p>
            <a:r>
              <a:rPr lang="en-US" dirty="0"/>
              <a:t>A power simulation analysis was conducted to estimate sample size needed to generate power with 80%</a:t>
            </a:r>
          </a:p>
          <a:p>
            <a:r>
              <a:rPr lang="en-US" dirty="0"/>
              <a:t>Effect sizes were readily available for most subgroups but had to be estimated based on plausible HR ranges and observed event 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D8BD-16F0-7DD6-4A0F-AC08F121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80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640C-6D05-17CF-4359-F3DA3765A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70496"/>
            <a:ext cx="10515600" cy="774067"/>
          </a:xfrm>
        </p:spPr>
        <p:txBody>
          <a:bodyPr/>
          <a:lstStyle/>
          <a:p>
            <a:r>
              <a:rPr lang="en-US" dirty="0"/>
              <a:t>Required Sample Sizes for 80%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F08B-902B-6744-5438-75C1371D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1125538"/>
            <a:ext cx="10515599" cy="1325563"/>
          </a:xfrm>
        </p:spPr>
        <p:txBody>
          <a:bodyPr>
            <a:normAutofit/>
          </a:bodyPr>
          <a:lstStyle/>
          <a:p>
            <a:r>
              <a:rPr lang="en-US" sz="2400" dirty="0"/>
              <a:t>Due to extremely limited information, some subgroups would require prohibitively high sample rates</a:t>
            </a:r>
          </a:p>
          <a:p>
            <a:r>
              <a:rPr lang="en-US" sz="2400" dirty="0"/>
              <a:t>Extreme values highlight the instability of these estimates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4FFF5-C38A-DB34-6AB1-81148C49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35BD65-15DC-5D6E-6C9B-4F99FB4E8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76257"/>
              </p:ext>
            </p:extLst>
          </p:nvPr>
        </p:nvGraphicFramePr>
        <p:xfrm>
          <a:off x="1923808" y="2632076"/>
          <a:ext cx="8344384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884">
                  <a:extLst>
                    <a:ext uri="{9D8B030D-6E8A-4147-A177-3AD203B41FA5}">
                      <a16:colId xmlns:a16="http://schemas.microsoft.com/office/drawing/2014/main" val="772587959"/>
                    </a:ext>
                  </a:extLst>
                </a:gridCol>
                <a:gridCol w="1454169">
                  <a:extLst>
                    <a:ext uri="{9D8B030D-6E8A-4147-A177-3AD203B41FA5}">
                      <a16:colId xmlns:a16="http://schemas.microsoft.com/office/drawing/2014/main" val="1333839601"/>
                    </a:ext>
                  </a:extLst>
                </a:gridCol>
                <a:gridCol w="1580571">
                  <a:extLst>
                    <a:ext uri="{9D8B030D-6E8A-4147-A177-3AD203B41FA5}">
                      <a16:colId xmlns:a16="http://schemas.microsoft.com/office/drawing/2014/main" val="2467871587"/>
                    </a:ext>
                  </a:extLst>
                </a:gridCol>
                <a:gridCol w="1714380">
                  <a:extLst>
                    <a:ext uri="{9D8B030D-6E8A-4147-A177-3AD203B41FA5}">
                      <a16:colId xmlns:a16="http://schemas.microsoft.com/office/drawing/2014/main" val="1879297196"/>
                    </a:ext>
                  </a:extLst>
                </a:gridCol>
                <a:gridCol w="1714380">
                  <a:extLst>
                    <a:ext uri="{9D8B030D-6E8A-4147-A177-3AD203B41FA5}">
                      <a16:colId xmlns:a16="http://schemas.microsoft.com/office/drawing/2014/main" val="2117588414"/>
                    </a:ext>
                  </a:extLst>
                </a:gridCol>
              </a:tblGrid>
              <a:tr h="452150">
                <a:tc>
                  <a:txBody>
                    <a:bodyPr/>
                    <a:lstStyle/>
                    <a:p>
                      <a:r>
                        <a:rPr lang="en-US" sz="1600" dirty="0"/>
                        <a:t>Subgroup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Observations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Events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HR: Observed / (Assumed)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Sample Needed for 80% Power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315955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264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0096817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Female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0.459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3263226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Male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(0.9 – 1.1)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2,547 – 13,960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873396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White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596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0.539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293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515526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Black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327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0.287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109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2470211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Hispanic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0.628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3727366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Asian/PI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(0.9 – 1.1)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892 – 4,886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76638"/>
                  </a:ext>
                </a:extLst>
              </a:tr>
              <a:tr h="261771">
                <a:tc>
                  <a:txBody>
                    <a:bodyPr/>
                    <a:lstStyle/>
                    <a:p>
                      <a:r>
                        <a:rPr lang="en-US" sz="1600" dirty="0"/>
                        <a:t>Other</a:t>
                      </a:r>
                    </a:p>
                  </a:txBody>
                  <a:tcPr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(0.9 – 1.1)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9,427 – 11,517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07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10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4B0E-0C9A-2355-5261-9D0EF428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152400"/>
            <a:ext cx="10515600" cy="792163"/>
          </a:xfrm>
        </p:spPr>
        <p:txBody>
          <a:bodyPr/>
          <a:lstStyle/>
          <a:p>
            <a:r>
              <a:rPr lang="en-US" dirty="0"/>
              <a:t>Conclusions and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BBBA-584F-B0E1-CAD6-014BE4FB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125537"/>
            <a:ext cx="10515600" cy="4716997"/>
          </a:xfrm>
        </p:spPr>
        <p:txBody>
          <a:bodyPr>
            <a:noAutofit/>
          </a:bodyPr>
          <a:lstStyle/>
          <a:p>
            <a:r>
              <a:rPr lang="en-US" sz="2400" dirty="0"/>
              <a:t>ACTG 320 was adequately powered to measure Overall  group and Female subgroup while other groups were underpowered</a:t>
            </a:r>
          </a:p>
          <a:p>
            <a:r>
              <a:rPr lang="en-US" sz="2400" dirty="0"/>
              <a:t>Absence of significant interaction effects does not prove the effects are the same across groups since there was insufficient statistical power due to low event counts</a:t>
            </a:r>
          </a:p>
          <a:p>
            <a:r>
              <a:rPr lang="en-US" sz="2400" dirty="0"/>
              <a:t>Simulated power analysis shows that with such little information available, sample sizes required to achieve 80% statistical power are impractical</a:t>
            </a:r>
          </a:p>
          <a:p>
            <a:r>
              <a:rPr lang="en-US" sz="2400" dirty="0"/>
              <a:t>Future clinical trials should prospectively design subgroup enrollment to achieve primary event counts that reach subgroup specific power requirements</a:t>
            </a:r>
          </a:p>
          <a:p>
            <a:r>
              <a:rPr lang="en-US" sz="2400" dirty="0"/>
              <a:t>Doing so will help ensure treatment effects can be detected to inform more accurate therapeutic recommendations where warranted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04C5B-7A3B-08C3-C0F2-AB3FF1A8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427E-3D83-4E05-BBD0-5A5577BF92C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33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1471</Words>
  <Application>Microsoft Office PowerPoint</Application>
  <PresentationFormat>Widescreen</PresentationFormat>
  <Paragraphs>427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Dosage Inequity in Clinical Studies: A Power Analysis  Replication and Reanalysis  </vt:lpstr>
      <vt:lpstr>Today’s topics</vt:lpstr>
      <vt:lpstr>Research Objective and Study Summary</vt:lpstr>
      <vt:lpstr>Survival Analysis Overview</vt:lpstr>
      <vt:lpstr>Cox Proportional Hazard Models</vt:lpstr>
      <vt:lpstr>Hazard Ratios</vt:lpstr>
      <vt:lpstr>Modeling Subgroup Effects: Likelihood Ratio Test</vt:lpstr>
      <vt:lpstr>Participant Group Descriptive Statistics</vt:lpstr>
      <vt:lpstr>Modeling Full Group Treatment Effect</vt:lpstr>
      <vt:lpstr>ACTG320 Kaplan-Meier Survival Curve</vt:lpstr>
      <vt:lpstr>Sex Subgroup Interaction Effects</vt:lpstr>
      <vt:lpstr>Race Subgroup Interaction Effects</vt:lpstr>
      <vt:lpstr>Baseline Power Analysis</vt:lpstr>
      <vt:lpstr>Power Simulation Analysis</vt:lpstr>
      <vt:lpstr>Required Sample Sizes for 80%</vt:lpstr>
      <vt:lpstr>Conclusions and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Blackburn</dc:creator>
  <cp:lastModifiedBy>Jan Blackburn</cp:lastModifiedBy>
  <cp:revision>5</cp:revision>
  <dcterms:created xsi:type="dcterms:W3CDTF">2026-05-08T21:07:49Z</dcterms:created>
  <dcterms:modified xsi:type="dcterms:W3CDTF">2026-05-09T16:27:36Z</dcterms:modified>
</cp:coreProperties>
</file>