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4" r:id="rId8"/>
    <p:sldId id="261" r:id="rId9"/>
    <p:sldId id="265" r:id="rId10"/>
    <p:sldId id="270" r:id="rId11"/>
    <p:sldId id="272" r:id="rId12"/>
    <p:sldId id="273" r:id="rId13"/>
    <p:sldId id="274" r:id="rId14"/>
    <p:sldId id="27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438" userDrawn="1">
          <p15:clr>
            <a:srgbClr val="A4A3A4"/>
          </p15:clr>
        </p15:guide>
        <p15:guide id="3" orient="horz" pos="709" userDrawn="1">
          <p15:clr>
            <a:srgbClr val="A4A3A4"/>
          </p15:clr>
        </p15:guide>
        <p15:guide id="4" orient="horz" pos="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615" autoAdjust="0"/>
  </p:normalViewPr>
  <p:slideViewPr>
    <p:cSldViewPr snapToGrid="0" showGuides="1">
      <p:cViewPr varScale="1">
        <p:scale>
          <a:sx n="99" d="100"/>
          <a:sy n="99" d="100"/>
        </p:scale>
        <p:origin x="948" y="78"/>
      </p:cViewPr>
      <p:guideLst>
        <p:guide orient="horz" pos="595"/>
        <p:guide pos="438"/>
        <p:guide orient="horz" pos="709"/>
        <p:guide orient="horz" pos="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094043-31A2-4DE8-BD0D-19AD51635CC7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AE9003-360B-4E18-8AA9-F1BCDFEE0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/>
              <a:t>Other Baseline Covariates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Baseline CD4 cell count (cells/mm</a:t>
            </a:r>
            <a:r>
              <a:rPr lang="en-US" sz="1200" baseline="30000" dirty="0"/>
              <a:t>3</a:t>
            </a:r>
            <a:r>
              <a:rPr lang="en-US" sz="1200" dirty="0"/>
              <a:t>) measured at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Participant age in years at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Karnofsky score: A clinical measure of  functional status ranging from 0 to 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Months of prior zidovudine (ZDV) use before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Indicator used for stratified randomization based on CD40 cell count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9875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32EB-1BEE-C5FB-EAD2-293E20E4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0AA36-FC30-6D9B-2812-CAAEC4347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BF49E-E432-8465-D8EA-A961ADA7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/>
              <a:t>Other Baseline Covariates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Baseline CD4 cell count (cells/mm</a:t>
            </a:r>
            <a:r>
              <a:rPr lang="en-US" sz="1200" baseline="30000" dirty="0"/>
              <a:t>3</a:t>
            </a:r>
            <a:r>
              <a:rPr lang="en-US" sz="1200" dirty="0"/>
              <a:t>) measured at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Participant age in years at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Karnofsky score: A clinical measure of  functional status ranging from 0 to 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Months of prior zidovudine (ZDV) use before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Indicator used for stratified randomization based on CD40 cell count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E0C960-788A-19FF-F26D-7560F9373F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1887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E9895-5CF1-FECF-8E1D-CCA99FE5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0B00E-D696-22EB-7672-C0AC2649C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D7154-CF7A-571A-919F-28EF1338C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/>
              <a:t>Other Baseline Covariates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Baseline CD4 cell count (cells/mm</a:t>
            </a:r>
            <a:r>
              <a:rPr lang="en-US" sz="1200" baseline="30000" dirty="0"/>
              <a:t>3</a:t>
            </a:r>
            <a:r>
              <a:rPr lang="en-US" sz="1200" dirty="0"/>
              <a:t>) measured at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Participant age in years at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Karnofsky score: A clinical measure of  functional status ranging from 0 to 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Months of prior zidovudine (ZDV) use before enrollment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Indicator used for stratified randomization based on CD40 cell count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55DCC-8D43-0A1C-1679-42137EACB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15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C560-31B0-77EC-429F-C62DF1E85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715472-037B-0E77-BB7B-F4A1E6D875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3F16A-A172-0053-429C-2FFC4D9E1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2766A-70DF-4EED-AD06-91C046CCC542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A51E7-F6CE-03C5-485A-5DFA3DFD8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EEADB-FF4E-7819-31A6-85B329F9A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6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125-55A0-DD12-F085-D6BFFBE6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BF9E8-2E36-E825-08FE-3C98F9EE4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3B707-CBF4-EC10-58DB-F7DA8CA96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7FE21-2CD4-4765-8796-2AF547FCD935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1DA9-E69F-B7CD-B15D-861147328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8B6D4-0BC2-2204-E0FE-1639543EB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49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ADF4D-64FA-B08B-FF9E-0DF2CEA2A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5E306-DF92-3577-39D1-DEDAD2FA9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86772-A0C7-1020-3CD6-4C2F3E347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B12C0-F489-429A-AE39-EF60A18F4EB4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16D2E-A55E-0FC5-A69D-D9A62E7D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8F52-8AB9-AEA3-1D07-808CE021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958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8450-C01D-AD75-E21A-B2BA63570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B1FCB-B110-77A0-F449-EE9BFE4F4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9E209B-6459-C4D8-B9DC-2C1A4FCCF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802A6E-659E-5672-30C4-EA6E26841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1563D-13E1-408D-93AB-67E59C14115F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80F989-C584-82A9-B001-13F6B045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22284-C3CA-3730-0492-3905220BA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31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B8D17-E9FC-A0F4-BCAA-E7422240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0B1F0-A448-0099-BC58-BAD6546F22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8C9893-8A84-5893-C74B-7D3DA84EC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73F76E-7048-2A12-558E-46EE8A805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CBAE6-74A6-4C5D-0CA0-6C9FC9C977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D1FEA4-B98B-7EDD-2034-B7CE5DA51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27240-31ED-4540-8622-12CACEE245EE}" type="datetime1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9E8AA1-B240-6678-36C1-7F4843829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F4FE5-2691-2CF8-4145-C8842F223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025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F59A6-7389-5C41-FE80-11A4F7D54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EE67D6-B310-7171-1FA4-1E78DC957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3054F-A5B3-4ED5-9CC9-1E82D6C4F216}" type="datetime1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689FB6-B767-3389-C254-56ED1E8BE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7FD520-6E4A-18EC-6A5B-6A72FF58D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10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1B60EE-F87A-4988-FFB0-05904E6A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ABC0E-F129-4245-AA2B-27E08B4EDF8B}" type="datetime1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1C1CDB-DECE-4130-FCB9-E0ECA027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25F99-D698-6365-5D22-66B2E8712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118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F8312-5ED4-C05D-BA5B-BFE31943E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D3908-A142-AD80-861A-5AD683BE4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ABFCD-C27C-8D18-3C4D-164CF8F67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53638E-1C22-DB1D-E4BD-60AC89BD3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8681E-A762-4AB5-A6A0-109C767AE03E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86F6C-96D4-E576-9653-25B29BEB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79FBA1-B164-0150-5AC5-C52CD0188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13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076E-D6E1-189F-2807-97B282C2A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A68E3A-D62A-F512-CCD9-1C5F7BA1ED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A6EC8-A91A-5253-DCDD-E2A10AC18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97E1C-EA93-F50F-D49B-BF5A604E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84EF8-0EC5-414E-B27B-6A9E812407A3}" type="datetime1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C0A0CD-BD60-2DDF-068A-BC563A14C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C4CCC-1743-5F98-212A-480C969F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46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CD204-0EDE-ACE8-4967-2F94C10DE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5EF0AA-989C-1747-0B73-160FC57C7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4BCA-A461-5808-72A8-716EB55AC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551F4-C417-4178-9C4F-AE395D6DEFF8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2628C-0E36-3132-448B-E082F14BF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328DA-76BB-104C-11AB-1D4DE6899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08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CCDB4-68E2-9CF2-0AB3-6332D3F2B1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9593FD-00A4-90F4-2E58-F694B5059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01A15-2B32-98D7-F25D-F6CCEC63C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068D-DD41-4230-AE56-63E074B1D952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66FE5-70F1-5EFE-DB3F-401D5AE49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518F6-CC2B-D9C7-F76E-2B581D51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618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5D6913-1F3A-DF50-7816-4411B9783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FCB73-2FAC-F2ED-1DA2-CFC51B855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9949-57E9-24B6-B345-643828A5A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3C63F-9209-4850-A260-94E98C5748EF}" type="datetime1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08C2B-288E-230C-CDF3-18A64E9E8E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BE7A-6FBB-A3FB-9732-803B1D214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880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4BC5359-89EE-EAA3-F872-48E4FD8874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B04BD5-13A7-AB46-5A0E-8F02713838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 anchorCtr="0">
            <a:normAutofit fontScale="90000"/>
          </a:bodyPr>
          <a:lstStyle/>
          <a:p>
            <a:pPr algn="l"/>
            <a:r>
              <a:rPr lang="en-US" sz="5300" dirty="0">
                <a:solidFill>
                  <a:srgbClr val="FFFF00"/>
                </a:solidFill>
              </a:rPr>
              <a:t>Dosage Inequity in Clinical Studies: A Power Analysis</a:t>
            </a:r>
            <a:br>
              <a:rPr lang="en-US" dirty="0">
                <a:solidFill>
                  <a:srgbClr val="FFFF00"/>
                </a:solidFill>
              </a:rPr>
            </a:br>
            <a:br>
              <a:rPr lang="en-US" dirty="0">
                <a:solidFill>
                  <a:srgbClr val="FFFF00"/>
                </a:solidFill>
              </a:rPr>
            </a:br>
            <a:r>
              <a:rPr lang="en-US" sz="4400" dirty="0">
                <a:solidFill>
                  <a:srgbClr val="FFFF00"/>
                </a:solidFill>
              </a:rPr>
              <a:t>Replication and Reanalysis</a:t>
            </a:r>
            <a:br>
              <a:rPr lang="en-US" dirty="0">
                <a:solidFill>
                  <a:srgbClr val="FFFF00"/>
                </a:solidFill>
              </a:rPr>
            </a:br>
            <a:br>
              <a:rPr lang="en-US" dirty="0">
                <a:solidFill>
                  <a:srgbClr val="FFFF00"/>
                </a:solidFill>
              </a:rPr>
            </a:b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51C4B6-6C90-D09D-061D-48E961F91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43050" y="4151314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en-US" sz="2000" dirty="0">
                <a:solidFill>
                  <a:srgbClr val="FFFF00"/>
                </a:solidFill>
              </a:rPr>
              <a:t>Susan Peck, Jan Blackburn, Joseph Burks</a:t>
            </a:r>
          </a:p>
          <a:p>
            <a:pPr algn="l"/>
            <a:r>
              <a:rPr lang="en-US" sz="2000" dirty="0">
                <a:solidFill>
                  <a:srgbClr val="FFFF00"/>
                </a:solidFill>
              </a:rPr>
              <a:t>Math 261B - Spring 2026</a:t>
            </a:r>
          </a:p>
          <a:p>
            <a:pPr algn="l"/>
            <a:endParaRPr lang="en-US" sz="2000" dirty="0">
              <a:solidFill>
                <a:srgbClr val="FFFF00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4391C-AAAC-70C5-37BD-D5C6EB8F3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610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2850-9271-D001-4067-F02A6D449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92164"/>
          </a:xfrm>
        </p:spPr>
        <p:txBody>
          <a:bodyPr>
            <a:noAutofit/>
          </a:bodyPr>
          <a:lstStyle/>
          <a:p>
            <a:r>
              <a:rPr lang="en-US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949DC-CEB1-9804-CE83-BDF1F063C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 Objective and Study Summary</a:t>
            </a:r>
          </a:p>
          <a:p>
            <a:r>
              <a:rPr lang="en-US" dirty="0"/>
              <a:t>Survival Analysis Overview</a:t>
            </a:r>
          </a:p>
          <a:p>
            <a:r>
              <a:rPr lang="en-US" dirty="0"/>
              <a:t>Reanalysis and Subgroup Interaction Analysis</a:t>
            </a:r>
          </a:p>
          <a:p>
            <a:r>
              <a:rPr lang="en-US" dirty="0"/>
              <a:t>Power Simulation Analysis</a:t>
            </a:r>
          </a:p>
          <a:p>
            <a:r>
              <a:rPr lang="en-US" dirty="0"/>
              <a:t>Results and Implications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0DD36-D078-ABD8-00E6-AB75E9D96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866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1B8B3-0E96-7DCB-6896-19614CF86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 dirty="0"/>
              <a:t>Research Objective and Study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C495F-9D76-6A7B-8815-8DAF2B5D1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7"/>
            <a:ext cx="10515600" cy="4332287"/>
          </a:xfrm>
        </p:spPr>
        <p:txBody>
          <a:bodyPr>
            <a:normAutofit/>
          </a:bodyPr>
          <a:lstStyle/>
          <a:p>
            <a:r>
              <a:rPr lang="en-US" sz="2000" b="1" dirty="0"/>
              <a:t>Research Objective</a:t>
            </a:r>
          </a:p>
          <a:p>
            <a:pPr lvl="1"/>
            <a:r>
              <a:rPr lang="en-US" sz="2000" dirty="0"/>
              <a:t>Understand how clinical trial underrepresentation of gender and race/ethnic subgroups impacts statistical power, impact on detecting subgroup treatment effects differences and implications for therapeutic recommendations</a:t>
            </a:r>
          </a:p>
          <a:p>
            <a:endParaRPr lang="en-US" sz="2000" b="1" dirty="0"/>
          </a:p>
          <a:p>
            <a:r>
              <a:rPr lang="en-US" sz="2000" b="1" dirty="0"/>
              <a:t>Using ACTG 320 (Hammer et. al, 1997) as a case study</a:t>
            </a:r>
          </a:p>
          <a:p>
            <a:pPr lvl="1"/>
            <a:r>
              <a:rPr lang="en-US" sz="2000" b="1" dirty="0"/>
              <a:t>Purpose: </a:t>
            </a:r>
            <a:r>
              <a:rPr lang="en-US" sz="2000" dirty="0"/>
              <a:t>Study impact on HIV by introducing </a:t>
            </a:r>
            <a:r>
              <a:rPr lang="en-US" sz="2000" dirty="0" err="1"/>
              <a:t>indivir</a:t>
            </a:r>
            <a:r>
              <a:rPr lang="en-US" sz="2000" dirty="0"/>
              <a:t> to existing baseline therapy</a:t>
            </a:r>
          </a:p>
          <a:p>
            <a:pPr lvl="1"/>
            <a:r>
              <a:rPr lang="en-US" sz="2000" b="1" dirty="0"/>
              <a:t>Structure: </a:t>
            </a:r>
            <a:r>
              <a:rPr lang="en-US" sz="2000" dirty="0"/>
              <a:t>Multi-center, randomized, double blind, placebo- controlled study with 1,196 subjects enrolled</a:t>
            </a:r>
          </a:p>
          <a:p>
            <a:pPr lvl="1"/>
            <a:r>
              <a:rPr lang="en-US" sz="2000" b="1" dirty="0"/>
              <a:t>Response Variable: </a:t>
            </a:r>
            <a:r>
              <a:rPr lang="en-US" sz="2000" dirty="0"/>
              <a:t>Time-to-event for participants to acquire AIDS related disease or death</a:t>
            </a:r>
          </a:p>
          <a:p>
            <a:pPr lvl="1"/>
            <a:r>
              <a:rPr lang="en-US" sz="2000" b="1" dirty="0"/>
              <a:t>Effect Variables: </a:t>
            </a:r>
            <a:r>
              <a:rPr lang="en-US" sz="2000" dirty="0"/>
              <a:t>Treatment group + other covariates tracked by sex and race/ethnicity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910FF-746C-960C-1312-C8E46C89F1B9}"/>
              </a:ext>
            </a:extLst>
          </p:cNvPr>
          <p:cNvSpPr txBox="1"/>
          <p:nvPr/>
        </p:nvSpPr>
        <p:spPr>
          <a:xfrm>
            <a:off x="1736259" y="5864781"/>
            <a:ext cx="8792536" cy="369332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Statistical analysis of Clinical Trial data requires used of tools found in Survival Analysis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09A4A-7E31-EA06-8416-CE8FF91CD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838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4CF84-53F6-946A-CA94-D30D0DCA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Participant Group Descriptive Statistics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8DF3C-B02D-A675-3F9E-6D1D076CC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4</a:t>
            </a:fld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01D18C1-51AF-6E63-58BF-9AC523E15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4406064" cy="5051425"/>
          </a:xfrm>
        </p:spPr>
        <p:txBody>
          <a:bodyPr>
            <a:normAutofit/>
          </a:bodyPr>
          <a:lstStyle/>
          <a:p>
            <a:r>
              <a:rPr lang="en-US" sz="2000" dirty="0"/>
              <a:t>Study was well balanced between control and treatment groups</a:t>
            </a:r>
          </a:p>
          <a:p>
            <a:r>
              <a:rPr lang="en-US" sz="2000" dirty="0"/>
              <a:t>Female participants made up 83% of sample</a:t>
            </a:r>
          </a:p>
          <a:p>
            <a:r>
              <a:rPr lang="en-US" sz="2000" dirty="0"/>
              <a:t>Whites made up 52% of total participants</a:t>
            </a:r>
          </a:p>
          <a:p>
            <a:r>
              <a:rPr lang="en-US" sz="2000" dirty="0"/>
              <a:t>Low event rates in subgroups will have an impact on the statistical power of subgroup tests</a:t>
            </a:r>
          </a:p>
        </p:txBody>
      </p:sp>
      <p:graphicFrame>
        <p:nvGraphicFramePr>
          <p:cNvPr id="12" name="Content Placeholder 8">
            <a:extLst>
              <a:ext uri="{FF2B5EF4-FFF2-40B4-BE49-F238E27FC236}">
                <a16:creationId xmlns:a16="http://schemas.microsoft.com/office/drawing/2014/main" id="{B4D5DA4C-982E-79DE-5E7B-67D1EB78B0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3732011"/>
              </p:ext>
            </p:extLst>
          </p:nvPr>
        </p:nvGraphicFramePr>
        <p:xfrm>
          <a:off x="5207568" y="1400731"/>
          <a:ext cx="491913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9302">
                  <a:extLst>
                    <a:ext uri="{9D8B030D-6E8A-4147-A177-3AD203B41FA5}">
                      <a16:colId xmlns:a16="http://schemas.microsoft.com/office/drawing/2014/main" val="3114019077"/>
                    </a:ext>
                  </a:extLst>
                </a:gridCol>
                <a:gridCol w="1133403">
                  <a:extLst>
                    <a:ext uri="{9D8B030D-6E8A-4147-A177-3AD203B41FA5}">
                      <a16:colId xmlns:a16="http://schemas.microsoft.com/office/drawing/2014/main" val="920085322"/>
                    </a:ext>
                  </a:extLst>
                </a:gridCol>
                <a:gridCol w="1496429">
                  <a:extLst>
                    <a:ext uri="{9D8B030D-6E8A-4147-A177-3AD203B41FA5}">
                      <a16:colId xmlns:a16="http://schemas.microsoft.com/office/drawing/2014/main" val="34442535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Treatment 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6335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Control (no indinavir)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577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1896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Treatment (indinavir)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574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8566912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0AAC7BB-3306-5666-DBED-3DD23E1C2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768912"/>
              </p:ext>
            </p:extLst>
          </p:nvPr>
        </p:nvGraphicFramePr>
        <p:xfrm>
          <a:off x="5207568" y="2788444"/>
          <a:ext cx="671591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0869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462024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307228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417896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1417896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29235">
                <a:tc>
                  <a:txBody>
                    <a:bodyPr/>
                    <a:lstStyle/>
                    <a:p>
                      <a:r>
                        <a:rPr lang="en-US" sz="16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% of Sample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Event Rate 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82.6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17.4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7.5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51.8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28.4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6.4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17.6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1.2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21.4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1.0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b="1" dirty="0"/>
                        <a:t>Total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100%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8.3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812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0761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D9DDB-19B9-8464-3156-521E0856D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374" y="175143"/>
            <a:ext cx="10515600" cy="787400"/>
          </a:xfrm>
        </p:spPr>
        <p:txBody>
          <a:bodyPr/>
          <a:lstStyle/>
          <a:p>
            <a:r>
              <a:rPr lang="en-US" dirty="0"/>
              <a:t>Survival Analysis Overview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994CA0-5195-2401-F07D-F07F2B8C77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485" b="23690"/>
          <a:stretch>
            <a:fillRect/>
          </a:stretch>
        </p:blipFill>
        <p:spPr>
          <a:xfrm>
            <a:off x="714374" y="1152526"/>
            <a:ext cx="11269940" cy="50958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FA7CEE6-D0AF-2E3E-3A26-41F3F7F35088}"/>
              </a:ext>
            </a:extLst>
          </p:cNvPr>
          <p:cNvSpPr txBox="1"/>
          <p:nvPr/>
        </p:nvSpPr>
        <p:spPr>
          <a:xfrm>
            <a:off x="838200" y="6420921"/>
            <a:ext cx="26448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Image generated by ChatGPT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7CA589F-3C86-7DF3-6465-04CBD0F8D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393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3F2B7-E309-7D90-A163-C7269D478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6214"/>
            <a:ext cx="10515600" cy="768350"/>
          </a:xfrm>
        </p:spPr>
        <p:txBody>
          <a:bodyPr/>
          <a:lstStyle/>
          <a:p>
            <a:r>
              <a:rPr lang="en-US" dirty="0"/>
              <a:t>Cox Proportional Hazard Models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66E12-F496-D998-82BB-41E87AE91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99" y="1209675"/>
            <a:ext cx="6244584" cy="310999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22C7B1-D18A-8B52-6A3F-F97F579B72FF}"/>
              </a:ext>
            </a:extLst>
          </p:cNvPr>
          <p:cNvSpPr txBox="1"/>
          <p:nvPr/>
        </p:nvSpPr>
        <p:spPr>
          <a:xfrm>
            <a:off x="838200" y="6492875"/>
            <a:ext cx="26448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Image generated by ChatGPT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1E0B23B-0EBE-4EEC-DC13-BC8021E065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6109" y="1301155"/>
            <a:ext cx="4804787" cy="5220165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5E5585A6-A6DC-664A-3F82-D3A79D1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80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79CDD-F246-B64A-97B6-5EC209983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89548"/>
            <a:ext cx="10515600" cy="755015"/>
          </a:xfrm>
        </p:spPr>
        <p:txBody>
          <a:bodyPr>
            <a:normAutofit fontScale="90000"/>
          </a:bodyPr>
          <a:lstStyle/>
          <a:p>
            <a:r>
              <a:rPr lang="en-US" dirty="0"/>
              <a:t>Modeling Subgroup Effects: Likelihood Ratio Test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D74641-96FA-3D9E-FFA7-B94ECD4FA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62" y="1088772"/>
            <a:ext cx="10658475" cy="521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7C91F8A-D0D5-EC3B-37C6-C8D6062CADA8}"/>
              </a:ext>
            </a:extLst>
          </p:cNvPr>
          <p:cNvSpPr txBox="1"/>
          <p:nvPr/>
        </p:nvSpPr>
        <p:spPr>
          <a:xfrm>
            <a:off x="838200" y="6523543"/>
            <a:ext cx="26448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Image generated by ChatGPT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ABDDB60-E98D-FAE0-B07E-5EFCBA6A3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520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E2E1-09E4-5A83-00A3-78180B6E9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77876"/>
          </a:xfrm>
        </p:spPr>
        <p:txBody>
          <a:bodyPr>
            <a:normAutofit/>
          </a:bodyPr>
          <a:lstStyle/>
          <a:p>
            <a:r>
              <a:rPr lang="en-US" dirty="0"/>
              <a:t>Modeling Full Group Treatment Effect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94A581-90F6-9EAC-3C64-DB3905DE4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66484"/>
            <a:ext cx="10515600" cy="565150"/>
          </a:xfrm>
        </p:spPr>
        <p:txBody>
          <a:bodyPr>
            <a:noAutofit/>
          </a:bodyPr>
          <a:lstStyle/>
          <a:p>
            <a:r>
              <a:rPr lang="en-US" sz="2000" dirty="0"/>
              <a:t>Replicated modeling of hazard using Cox Proportional hazard model for full group excluding any subgroup variables</a:t>
            </a:r>
          </a:p>
          <a:p>
            <a:r>
              <a:rPr lang="en-US" sz="2000" dirty="0"/>
              <a:t>Treatment HR = 0.517 (p-value = 0.002) indicating  the treatment group hazard is nearly half of the control group and consistent with original study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/>
              <p:nvPr/>
            </p:nvSpPr>
            <p:spPr>
              <a:xfrm>
                <a:off x="1024503" y="3378160"/>
                <a:ext cx="3095527" cy="2808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503" y="3378160"/>
                <a:ext cx="3095527" cy="280846"/>
              </a:xfrm>
              <a:prstGeom prst="rect">
                <a:avLst/>
              </a:prstGeom>
              <a:blipFill>
                <a:blip r:embed="rId3"/>
                <a:stretch>
                  <a:fillRect l="-1575" r="-2362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9CEE9428-B252-FF55-2CC5-D24EF1F3C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783210"/>
              </p:ext>
            </p:extLst>
          </p:nvPr>
        </p:nvGraphicFramePr>
        <p:xfrm>
          <a:off x="5458142" y="3012082"/>
          <a:ext cx="6167195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49">
                  <a:extLst>
                    <a:ext uri="{9D8B030D-6E8A-4147-A177-3AD203B41FA5}">
                      <a16:colId xmlns:a16="http://schemas.microsoft.com/office/drawing/2014/main" val="75012015"/>
                    </a:ext>
                  </a:extLst>
                </a:gridCol>
                <a:gridCol w="1121943">
                  <a:extLst>
                    <a:ext uri="{9D8B030D-6E8A-4147-A177-3AD203B41FA5}">
                      <a16:colId xmlns:a16="http://schemas.microsoft.com/office/drawing/2014/main" val="3497336759"/>
                    </a:ext>
                  </a:extLst>
                </a:gridCol>
                <a:gridCol w="1231144">
                  <a:extLst>
                    <a:ext uri="{9D8B030D-6E8A-4147-A177-3AD203B41FA5}">
                      <a16:colId xmlns:a16="http://schemas.microsoft.com/office/drawing/2014/main" val="2925896864"/>
                    </a:ext>
                  </a:extLst>
                </a:gridCol>
                <a:gridCol w="1237316">
                  <a:extLst>
                    <a:ext uri="{9D8B030D-6E8A-4147-A177-3AD203B41FA5}">
                      <a16:colId xmlns:a16="http://schemas.microsoft.com/office/drawing/2014/main" val="840471265"/>
                    </a:ext>
                  </a:extLst>
                </a:gridCol>
                <a:gridCol w="1121943">
                  <a:extLst>
                    <a:ext uri="{9D8B030D-6E8A-4147-A177-3AD203B41FA5}">
                      <a16:colId xmlns:a16="http://schemas.microsoft.com/office/drawing/2014/main" val="345428938"/>
                    </a:ext>
                  </a:extLst>
                </a:gridCol>
              </a:tblGrid>
              <a:tr h="199505"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95% CI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7398686"/>
                  </a:ext>
                </a:extLst>
              </a:tr>
              <a:tr h="199505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Covariate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Upper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p-value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09681"/>
                  </a:ext>
                </a:extLst>
              </a:tr>
              <a:tr h="199505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Treatment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0000"/>
                          </a:solidFill>
                        </a:rPr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0.788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0.002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4089767"/>
                  </a:ext>
                </a:extLst>
              </a:tr>
              <a:tr h="19950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Age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1.022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1.045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0.054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16138845"/>
                  </a:ext>
                </a:extLst>
              </a:tr>
              <a:tr h="19950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Baseline CD4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0.985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0.978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0.993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1557607"/>
                  </a:ext>
                </a:extLst>
              </a:tr>
              <a:tr h="19950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Karnofsky Score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0.948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0.926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0.970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8584953"/>
                  </a:ext>
                </a:extLst>
              </a:tr>
              <a:tr h="19950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Prior ZDV Use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0.992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1.007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0.925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60456862"/>
                  </a:ext>
                </a:extLst>
              </a:tr>
              <a:tr h="19950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CD4 Stratum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1.012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1.984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0.871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5912534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B2E08789-761B-AE34-8E3C-9EE5849A2F02}"/>
              </a:ext>
            </a:extLst>
          </p:cNvPr>
          <p:cNvSpPr txBox="1"/>
          <p:nvPr/>
        </p:nvSpPr>
        <p:spPr>
          <a:xfrm>
            <a:off x="1239510" y="2827416"/>
            <a:ext cx="24288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Full Group Cox Model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F3E546-8E9A-F516-1224-5B551151CF39}"/>
              </a:ext>
            </a:extLst>
          </p:cNvPr>
          <p:cNvSpPr txBox="1"/>
          <p:nvPr/>
        </p:nvSpPr>
        <p:spPr>
          <a:xfrm>
            <a:off x="5458142" y="2642750"/>
            <a:ext cx="6167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Results for Full Group Cox Model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8CFC45BE-AEFD-6C78-962A-7C47ACA6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519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73FC7-F2FA-CBDE-1A1A-FC2DC927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61015-6527-C28B-3C07-C8E899D1D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3621"/>
            <a:ext cx="10515600" cy="777875"/>
          </a:xfrm>
        </p:spPr>
        <p:txBody>
          <a:bodyPr>
            <a:normAutofit/>
          </a:bodyPr>
          <a:lstStyle/>
          <a:p>
            <a:r>
              <a:rPr lang="en-US" dirty="0"/>
              <a:t>Sex Subgroup Interaction Effects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C29A07-C71C-21F6-309D-EAD191597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49382"/>
            <a:ext cx="10515600" cy="1285630"/>
          </a:xfrm>
        </p:spPr>
        <p:txBody>
          <a:bodyPr>
            <a:noAutofit/>
          </a:bodyPr>
          <a:lstStyle/>
          <a:p>
            <a:r>
              <a:rPr lang="en-US" sz="2000" dirty="0"/>
              <a:t>Interaction hazard ratio is 2.034 but p-value is 0.214 and so is not significant </a:t>
            </a:r>
          </a:p>
          <a:p>
            <a:r>
              <a:rPr lang="en-US" sz="2000" dirty="0"/>
              <a:t>The likelihood ratio test p-value = 0.2187 so the null hypothesis is not rejected and conclude interaction effects are the same for both female and male participants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/>
              <p:nvPr/>
            </p:nvSpPr>
            <p:spPr>
              <a:xfrm>
                <a:off x="573290" y="3146743"/>
                <a:ext cx="4633896" cy="2822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290" y="3146743"/>
                <a:ext cx="4633896" cy="282257"/>
              </a:xfrm>
              <a:prstGeom prst="rect">
                <a:avLst/>
              </a:prstGeom>
              <a:blipFill>
                <a:blip r:embed="rId3"/>
                <a:stretch>
                  <a:fillRect r="-263" b="-31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DD051A3-68E9-A788-9D14-80BE76220D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421831"/>
              </p:ext>
            </p:extLst>
          </p:nvPr>
        </p:nvGraphicFramePr>
        <p:xfrm>
          <a:off x="5343842" y="3051787"/>
          <a:ext cx="6482282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936">
                  <a:extLst>
                    <a:ext uri="{9D8B030D-6E8A-4147-A177-3AD203B41FA5}">
                      <a16:colId xmlns:a16="http://schemas.microsoft.com/office/drawing/2014/main" val="75012015"/>
                    </a:ext>
                  </a:extLst>
                </a:gridCol>
                <a:gridCol w="1121943">
                  <a:extLst>
                    <a:ext uri="{9D8B030D-6E8A-4147-A177-3AD203B41FA5}">
                      <a16:colId xmlns:a16="http://schemas.microsoft.com/office/drawing/2014/main" val="3497336759"/>
                    </a:ext>
                  </a:extLst>
                </a:gridCol>
                <a:gridCol w="1231144">
                  <a:extLst>
                    <a:ext uri="{9D8B030D-6E8A-4147-A177-3AD203B41FA5}">
                      <a16:colId xmlns:a16="http://schemas.microsoft.com/office/drawing/2014/main" val="2925896864"/>
                    </a:ext>
                  </a:extLst>
                </a:gridCol>
                <a:gridCol w="1237316">
                  <a:extLst>
                    <a:ext uri="{9D8B030D-6E8A-4147-A177-3AD203B41FA5}">
                      <a16:colId xmlns:a16="http://schemas.microsoft.com/office/drawing/2014/main" val="840471265"/>
                    </a:ext>
                  </a:extLst>
                </a:gridCol>
                <a:gridCol w="1121943">
                  <a:extLst>
                    <a:ext uri="{9D8B030D-6E8A-4147-A177-3AD203B41FA5}">
                      <a16:colId xmlns:a16="http://schemas.microsoft.com/office/drawing/2014/main" val="345428938"/>
                    </a:ext>
                  </a:extLst>
                </a:gridCol>
              </a:tblGrid>
              <a:tr h="229518"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95% CI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7398686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Covariate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Upper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p-value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09681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Treatment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0.460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0.288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0.734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0.001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4089767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Sex (Male v. Female)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0.854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0.405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1.801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0.679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81190595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Treatment x Sex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2.034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0.663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6.238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0.214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2929591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Age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1.023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1.046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0.050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16138845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Baseline CD4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0.985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0.978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0.993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0.000*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1557607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Karnofsky Score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0.947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0.925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0.969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0.000*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8584953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Prior ZDV Use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0.999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0.992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1.007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0.865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60456862"/>
                  </a:ext>
                </a:extLst>
              </a:tr>
              <a:tr h="229518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CD4 Stratum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0.516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1.978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0.975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5912534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16C1A433-6389-EFFC-153A-79F385BDB90E}"/>
              </a:ext>
            </a:extLst>
          </p:cNvPr>
          <p:cNvSpPr txBox="1"/>
          <p:nvPr/>
        </p:nvSpPr>
        <p:spPr>
          <a:xfrm>
            <a:off x="682938" y="2777411"/>
            <a:ext cx="44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Sex Subgroup Cox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C84A45-C245-A4B2-A76C-F14D7232F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0083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9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08C113-F019-393C-91C1-A602CBC7F3A9}"/>
              </a:ext>
            </a:extLst>
          </p:cNvPr>
          <p:cNvSpPr txBox="1"/>
          <p:nvPr/>
        </p:nvSpPr>
        <p:spPr>
          <a:xfrm>
            <a:off x="5343842" y="2661978"/>
            <a:ext cx="6482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Results for Sex Subgroup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A05178-E6F6-4B26-D5C7-23B96CB4C120}"/>
              </a:ext>
            </a:extLst>
          </p:cNvPr>
          <p:cNvSpPr txBox="1"/>
          <p:nvPr/>
        </p:nvSpPr>
        <p:spPr>
          <a:xfrm>
            <a:off x="5343842" y="6120264"/>
            <a:ext cx="8477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 rounded</a:t>
            </a:r>
          </a:p>
        </p:txBody>
      </p:sp>
    </p:spTree>
    <p:extLst>
      <p:ext uri="{BB962C8B-B14F-4D97-AF65-F5344CB8AC3E}">
        <p14:creationId xmlns:p14="http://schemas.microsoft.com/office/powerpoint/2010/main" val="536197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086C6-809B-B0EA-42ED-E9FD680A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DD04A-E984-DF96-7ADF-4EF8431A9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619" y="173622"/>
            <a:ext cx="10515600" cy="777875"/>
          </a:xfrm>
        </p:spPr>
        <p:txBody>
          <a:bodyPr>
            <a:normAutofit/>
          </a:bodyPr>
          <a:lstStyle/>
          <a:p>
            <a:r>
              <a:rPr lang="en-US" dirty="0"/>
              <a:t>Race Subgroup Interaction Effects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558EE8-F51C-F426-C947-F3C7DA834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619" y="1361107"/>
            <a:ext cx="5941343" cy="1921108"/>
          </a:xfrm>
        </p:spPr>
        <p:txBody>
          <a:bodyPr>
            <a:noAutofit/>
          </a:bodyPr>
          <a:lstStyle/>
          <a:p>
            <a:r>
              <a:rPr lang="en-US" sz="2000" dirty="0"/>
              <a:t>Only the Asian/PI subgroup interaction term is significant but high HR = 15.514 and large CI bounds suggest this is an unstable result</a:t>
            </a:r>
          </a:p>
          <a:p>
            <a:r>
              <a:rPr lang="en-US" sz="2000" dirty="0"/>
              <a:t>The likelihood ratio test reported a p-value = 0.0803 so the null hypothesis is not rejected and conclude that treatment effect does not vary by race subgroup</a:t>
            </a:r>
            <a:endParaRPr lang="en-US" sz="2000" b="1" dirty="0"/>
          </a:p>
          <a:p>
            <a:endParaRPr lang="en-US" sz="2000" b="1" dirty="0"/>
          </a:p>
          <a:p>
            <a:pPr marL="0" indent="0">
              <a:buNone/>
            </a:pPr>
            <a:endParaRPr lang="en-US" sz="2000" b="1" dirty="0"/>
          </a:p>
          <a:p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/>
              <p:nvPr/>
            </p:nvSpPr>
            <p:spPr>
              <a:xfrm>
                <a:off x="607587" y="4293178"/>
                <a:ext cx="6048375" cy="4351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𝐵𝑙𝑎𝑐𝑘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𝐴𝑠𝑖𝑎𝑛𝑃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𝐵𝑙𝑎𝑐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4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14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87" y="4293178"/>
                <a:ext cx="6048375" cy="435184"/>
              </a:xfrm>
              <a:prstGeom prst="rect">
                <a:avLst/>
              </a:prstGeom>
              <a:blipFill>
                <a:blip r:embed="rId3"/>
                <a:stretch>
                  <a:fillRect b="-15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738E6D24-51BB-3B6A-2834-A755107242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1129665"/>
              </p:ext>
            </p:extLst>
          </p:nvPr>
        </p:nvGraphicFramePr>
        <p:xfrm>
          <a:off x="6762994" y="1373807"/>
          <a:ext cx="5059830" cy="487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166">
                  <a:extLst>
                    <a:ext uri="{9D8B030D-6E8A-4147-A177-3AD203B41FA5}">
                      <a16:colId xmlns:a16="http://schemas.microsoft.com/office/drawing/2014/main" val="75012015"/>
                    </a:ext>
                  </a:extLst>
                </a:gridCol>
                <a:gridCol w="805916">
                  <a:extLst>
                    <a:ext uri="{9D8B030D-6E8A-4147-A177-3AD203B41FA5}">
                      <a16:colId xmlns:a16="http://schemas.microsoft.com/office/drawing/2014/main" val="3497336759"/>
                    </a:ext>
                  </a:extLst>
                </a:gridCol>
                <a:gridCol w="805916">
                  <a:extLst>
                    <a:ext uri="{9D8B030D-6E8A-4147-A177-3AD203B41FA5}">
                      <a16:colId xmlns:a16="http://schemas.microsoft.com/office/drawing/2014/main" val="2925896864"/>
                    </a:ext>
                  </a:extLst>
                </a:gridCol>
                <a:gridCol w="805916">
                  <a:extLst>
                    <a:ext uri="{9D8B030D-6E8A-4147-A177-3AD203B41FA5}">
                      <a16:colId xmlns:a16="http://schemas.microsoft.com/office/drawing/2014/main" val="840471265"/>
                    </a:ext>
                  </a:extLst>
                </a:gridCol>
                <a:gridCol w="805916">
                  <a:extLst>
                    <a:ext uri="{9D8B030D-6E8A-4147-A177-3AD203B41FA5}">
                      <a16:colId xmlns:a16="http://schemas.microsoft.com/office/drawing/2014/main" val="345428938"/>
                    </a:ext>
                  </a:extLst>
                </a:gridCol>
              </a:tblGrid>
              <a:tr h="221195"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95% CI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7398686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Covariate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Upper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p-value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09681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Treatment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0.534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0.302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0.946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0.032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4089767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Race: 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0.794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0.432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1.457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0.456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576933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Race: 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1.002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0.524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1.914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0.995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3780662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Race: 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0.860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0.117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6.317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0.882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49003520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Race: 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2.831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0.378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21.227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0.311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25301058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Treatment x 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0.591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0.185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1.883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0.373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30462264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Treatment x 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1.249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0.422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3.698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0.687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8996622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Treatment x 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15.514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1.244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193.477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0.033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3886507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Treatment x 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Inf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0.983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2345150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Age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1.024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1.001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1.048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0.038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16138845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Baseline CD4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0.985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0.978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0.993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0.000*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1557607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Karnofsky Score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0.948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0.971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0.000*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8584953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Prior ZDV Use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0.997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0.989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1.005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0.467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60456862"/>
                  </a:ext>
                </a:extLst>
              </a:tr>
              <a:tr h="221195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CD4 Stratum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1.010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0.513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1.986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00FF"/>
                          </a:solidFill>
                        </a:rPr>
                        <a:t>0.978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5912534"/>
                  </a:ext>
                </a:extLst>
              </a:tr>
            </a:tbl>
          </a:graphicData>
        </a:graphic>
      </p:graphicFrame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D65BF5D-D24E-C8A8-3F69-53691FECC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19253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03BE0F-7CAD-1A1E-88BD-60CE3EB0F257}"/>
              </a:ext>
            </a:extLst>
          </p:cNvPr>
          <p:cNvSpPr txBox="1"/>
          <p:nvPr/>
        </p:nvSpPr>
        <p:spPr>
          <a:xfrm>
            <a:off x="6762994" y="6256369"/>
            <a:ext cx="8477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 rounded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6DA072-5B03-8207-A25F-6A3A52F820AC}"/>
              </a:ext>
            </a:extLst>
          </p:cNvPr>
          <p:cNvSpPr txBox="1"/>
          <p:nvPr/>
        </p:nvSpPr>
        <p:spPr>
          <a:xfrm>
            <a:off x="6762994" y="1035253"/>
            <a:ext cx="5059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Results for Race Subgroup</a:t>
            </a:r>
            <a:r>
              <a:rPr lang="en-US" sz="1600" b="1" dirty="0">
                <a:solidFill>
                  <a:srgbClr val="FF0000"/>
                </a:solidFill>
              </a:rPr>
              <a:t> </a:t>
            </a:r>
            <a:r>
              <a:rPr lang="en-US" sz="1600" b="1" dirty="0"/>
              <a:t>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6B5008-F27A-2DA5-2ECC-C433EB6C1033}"/>
              </a:ext>
            </a:extLst>
          </p:cNvPr>
          <p:cNvSpPr txBox="1"/>
          <p:nvPr/>
        </p:nvSpPr>
        <p:spPr>
          <a:xfrm>
            <a:off x="695324" y="3812207"/>
            <a:ext cx="59852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/>
              <a:t>Race Subgroup Cox Model</a:t>
            </a:r>
          </a:p>
        </p:txBody>
      </p:sp>
    </p:spTree>
    <p:extLst>
      <p:ext uri="{BB962C8B-B14F-4D97-AF65-F5344CB8AC3E}">
        <p14:creationId xmlns:p14="http://schemas.microsoft.com/office/powerpoint/2010/main" val="2718977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42F5-37FF-C0D8-951E-1BE6898EB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Baseline Power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A42CA-A8A8-290D-369B-5EEC6A420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10515600" cy="1969610"/>
          </a:xfrm>
        </p:spPr>
        <p:txBody>
          <a:bodyPr>
            <a:noAutofit/>
          </a:bodyPr>
          <a:lstStyle/>
          <a:p>
            <a:r>
              <a:rPr lang="en-US" sz="2000" dirty="0"/>
              <a:t>Since clinical trials measure time-to-event, inference is based on number of events instead of sample size</a:t>
            </a:r>
          </a:p>
          <a:p>
            <a:r>
              <a:rPr lang="en-US" sz="2000" dirty="0"/>
              <a:t>The ACTG 320 study did not provide any explicit power analyses, so the power was estimated based on observed actuals</a:t>
            </a:r>
          </a:p>
          <a:p>
            <a:r>
              <a:rPr lang="en-US" sz="2000" dirty="0"/>
              <a:t>Only the Overall and Female groups were powered above 80%; all other groups were underpowered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C1431-8FD9-C781-A83F-52959002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EF6C89B-2EDC-A75D-28B3-2016BB419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056462"/>
              </p:ext>
            </p:extLst>
          </p:nvPr>
        </p:nvGraphicFramePr>
        <p:xfrm>
          <a:off x="1873804" y="3276123"/>
          <a:ext cx="8444391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505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945443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360925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476139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  <a:gridCol w="1256266">
                  <a:extLst>
                    <a:ext uri="{9D8B030D-6E8A-4147-A177-3AD203B41FA5}">
                      <a16:colId xmlns:a16="http://schemas.microsoft.com/office/drawing/2014/main" val="532067782"/>
                    </a:ext>
                  </a:extLst>
                </a:gridCol>
                <a:gridCol w="1786113">
                  <a:extLst>
                    <a:ext uri="{9D8B030D-6E8A-4147-A177-3AD203B41FA5}">
                      <a16:colId xmlns:a16="http://schemas.microsoft.com/office/drawing/2014/main" val="1472557716"/>
                    </a:ext>
                  </a:extLst>
                </a:gridCol>
              </a:tblGrid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Observed 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Event Rate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Observed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0.083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B050"/>
                          </a:solidFill>
                        </a:rPr>
                        <a:t>0.839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0.085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B050"/>
                          </a:solidFill>
                        </a:rPr>
                        <a:t>0.897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1.101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0.075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0.020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0.086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0.486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0.064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0.732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0.099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0.115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0.068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0.535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14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237.311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0.091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0.689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0688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F0ADF-05DC-A240-BFA4-4CD142DE3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Power Simulation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C7B58-8EED-5CB8-761C-E468C9DA4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10515600" cy="3051175"/>
          </a:xfrm>
        </p:spPr>
        <p:txBody>
          <a:bodyPr>
            <a:normAutofit fontScale="92500"/>
          </a:bodyPr>
          <a:lstStyle/>
          <a:p>
            <a:r>
              <a:rPr lang="en-US" dirty="0"/>
              <a:t>Preliminary simulation analysis shows that many of the subgroups were significantly under powered, undermining in the efficacy of the hypothesis tests for subgroup treatment effect analyses</a:t>
            </a:r>
          </a:p>
          <a:p>
            <a:r>
              <a:rPr lang="en-US" dirty="0"/>
              <a:t>A power simulation analysis was conducted to estimate sample size needed to generate power with 80%</a:t>
            </a:r>
          </a:p>
          <a:p>
            <a:r>
              <a:rPr lang="en-US" dirty="0"/>
              <a:t>Effect sizes were readily available for most subgroups but had to be estimated based on plausible HR ranges and observed event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7D8BD-16F0-7DD6-4A0F-AC08F1210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6801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C640C-6D05-17CF-4359-F3DA3765A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0496"/>
            <a:ext cx="10515600" cy="774067"/>
          </a:xfrm>
        </p:spPr>
        <p:txBody>
          <a:bodyPr/>
          <a:lstStyle/>
          <a:p>
            <a:r>
              <a:rPr lang="en-US" dirty="0"/>
              <a:t>Required Sample Sizes for 80%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5F08B-902B-6744-5438-75C1371DC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6" y="1125538"/>
            <a:ext cx="10515599" cy="1325563"/>
          </a:xfrm>
        </p:spPr>
        <p:txBody>
          <a:bodyPr>
            <a:normAutofit/>
          </a:bodyPr>
          <a:lstStyle/>
          <a:p>
            <a:r>
              <a:rPr lang="en-US" sz="2400" dirty="0"/>
              <a:t>Due to extremely limited information, some subgroups would require prohibitively high sample rates</a:t>
            </a:r>
          </a:p>
          <a:p>
            <a:r>
              <a:rPr lang="en-US" sz="2400" dirty="0"/>
              <a:t>Extreme values highlight the instability of these estimates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4FFF5-C38A-DB34-6AB1-81148C49F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35BD65-15DC-5D6E-6C9B-4F99FB4E8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6883841"/>
              </p:ext>
            </p:extLst>
          </p:nvPr>
        </p:nvGraphicFramePr>
        <p:xfrm>
          <a:off x="1923808" y="2632076"/>
          <a:ext cx="8344384" cy="326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884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454169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580571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714380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1714380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29235">
                <a:tc>
                  <a:txBody>
                    <a:bodyPr/>
                    <a:lstStyle/>
                    <a:p>
                      <a:r>
                        <a:rPr lang="en-US" sz="16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HR: Observed / (Assumed)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Sample Needed for 80%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264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188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(0.9 – 1.1)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2,547 – 13,960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293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109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447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(0.9 – 1.1)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892 – 4,886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16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(0.9 – 1.1)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9,427 – 11,517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3210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C4B0E-0C9A-2355-5261-9D0EF4280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Conclusions and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7BBBA-584F-B0E1-CAD6-014BE4FB2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7"/>
            <a:ext cx="10515600" cy="4716997"/>
          </a:xfrm>
        </p:spPr>
        <p:txBody>
          <a:bodyPr>
            <a:noAutofit/>
          </a:bodyPr>
          <a:lstStyle/>
          <a:p>
            <a:r>
              <a:rPr lang="en-US" sz="2400" dirty="0"/>
              <a:t>ACTG 320 was adequately powered to measure Overall  group and Female subgroup while other groups were underpowered</a:t>
            </a:r>
          </a:p>
          <a:p>
            <a:r>
              <a:rPr lang="en-US" sz="2400" dirty="0"/>
              <a:t>Absence of significant interaction effects does not prove the effects are the same across groups since there was insufficient statistical power due to low event counts</a:t>
            </a:r>
          </a:p>
          <a:p>
            <a:r>
              <a:rPr lang="en-US" sz="2400" dirty="0"/>
              <a:t>Simulated power analysis shows that with such little information available, sample sizes required to achieve 80% statistical power are impractical</a:t>
            </a:r>
          </a:p>
          <a:p>
            <a:r>
              <a:rPr lang="en-US" sz="2400" dirty="0"/>
              <a:t>Future clinical trials should prospectively design subgroup enrollment to achieve subgroup specific power requirements </a:t>
            </a:r>
          </a:p>
          <a:p>
            <a:r>
              <a:rPr lang="en-US" sz="2400" dirty="0"/>
              <a:t>Doing so will help ensure treatment effects can be detected to inform more accurate therapeutic recommendations where warranted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04C5B-7A3B-08C3-C0F2-AB3FF1A8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6330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1366</Words>
  <Application>Microsoft Office PowerPoint</Application>
  <PresentationFormat>Widescreen</PresentationFormat>
  <Paragraphs>415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Office Theme</vt:lpstr>
      <vt:lpstr>Dosage Inequity in Clinical Studies: A Power Analysis  Replication and Reanalysis  </vt:lpstr>
      <vt:lpstr>Today’s topics</vt:lpstr>
      <vt:lpstr>Research Objective and Study Summary</vt:lpstr>
      <vt:lpstr>Participant Group Descriptive Statistics</vt:lpstr>
      <vt:lpstr>Survival Analysis Overview</vt:lpstr>
      <vt:lpstr>Cox Proportional Hazard Models</vt:lpstr>
      <vt:lpstr>Modeling Subgroup Effects: Likelihood Ratio Test</vt:lpstr>
      <vt:lpstr>Modeling Full Group Treatment Effect</vt:lpstr>
      <vt:lpstr>Sex Subgroup Interaction Effects</vt:lpstr>
      <vt:lpstr>Race Subgroup Interaction Effects</vt:lpstr>
      <vt:lpstr>Baseline Power Analysis</vt:lpstr>
      <vt:lpstr>Power Simulation Analysis</vt:lpstr>
      <vt:lpstr>Required Sample Sizes for 80%</vt:lpstr>
      <vt:lpstr>Conclusions and Implications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Blackburn</dc:creator>
  <cp:lastModifiedBy>Jan Blackburn</cp:lastModifiedBy>
  <cp:revision>4</cp:revision>
  <dcterms:created xsi:type="dcterms:W3CDTF">2026-05-08T21:07:49Z</dcterms:created>
  <dcterms:modified xsi:type="dcterms:W3CDTF">2026-05-09T06:02:14Z</dcterms:modified>
</cp:coreProperties>
</file>