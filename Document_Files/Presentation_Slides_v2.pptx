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6" r:id="rId5"/>
    <p:sldId id="269" r:id="rId6"/>
    <p:sldId id="260" r:id="rId7"/>
    <p:sldId id="261" r:id="rId8"/>
    <p:sldId id="265" r:id="rId9"/>
    <p:sldId id="270" r:id="rId10"/>
    <p:sldId id="272" r:id="rId11"/>
    <p:sldId id="273" r:id="rId12"/>
    <p:sldId id="277" r:id="rId13"/>
    <p:sldId id="274" r:id="rId14"/>
    <p:sldId id="2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438" userDrawn="1">
          <p15:clr>
            <a:srgbClr val="A4A3A4"/>
          </p15:clr>
        </p15:guide>
        <p15:guide id="3" orient="horz" pos="709" userDrawn="1">
          <p15:clr>
            <a:srgbClr val="A4A3A4"/>
          </p15:clr>
        </p15:guide>
        <p15:guide id="4" orient="horz" pos="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805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615" autoAdjust="0"/>
  </p:normalViewPr>
  <p:slideViewPr>
    <p:cSldViewPr snapToGrid="0" showGuides="1">
      <p:cViewPr varScale="1">
        <p:scale>
          <a:sx n="48" d="100"/>
          <a:sy n="48" d="100"/>
        </p:scale>
        <p:origin x="67" y="691"/>
      </p:cViewPr>
      <p:guideLst>
        <p:guide orient="horz" pos="595"/>
        <p:guide pos="438"/>
        <p:guide orient="horz" pos="709"/>
        <p:guide orient="horz" pos="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94043-31A2-4DE8-BD0D-19AD51635CC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E9003-360B-4E18-8AA9-F1BCDFEE0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57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Represented but Underpowered: Subgroup Inference in the ACTG 320 Trial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31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Study was well balanced between control and treatment groups</a:t>
            </a:r>
            <a:endParaRPr lang="en-US" sz="1200" dirty="0"/>
          </a:p>
          <a:p>
            <a:r>
              <a:rPr lang="en-US" sz="1200"/>
              <a:t>Female participants made up 83% of sample</a:t>
            </a:r>
            <a:endParaRPr lang="en-US" sz="1200" dirty="0"/>
          </a:p>
          <a:p>
            <a:r>
              <a:rPr lang="en-US" sz="1200"/>
              <a:t>Whites made up 52% of total participants</a:t>
            </a:r>
            <a:endParaRPr lang="en-US" sz="1200" dirty="0"/>
          </a:p>
          <a:p>
            <a:r>
              <a:rPr lang="en-US" sz="1200"/>
              <a:t>Low event rates in subgroups will have an impact on the statistical power of subgroup tests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06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Two key functions</a:t>
            </a:r>
            <a:r>
              <a:rPr lang="en-US" b="1" dirty="0"/>
              <a:t>:</a:t>
            </a:r>
            <a:endParaRPr lang="en-US" dirty="0"/>
          </a:p>
          <a:p>
            <a:r>
              <a:rPr lang="en-US" b="1"/>
              <a:t>Survival function</a:t>
            </a:r>
            <a:r>
              <a:rPr lang="en-US"/>
              <a:t> S</a:t>
            </a:r>
            <a:r>
              <a:rPr lang="en-US" dirty="0"/>
              <a:t>(</a:t>
            </a:r>
            <a:r>
              <a:rPr lang="en-US"/>
              <a:t>t) = P(T &gt; t) — probability of remaining event-free beyond time t</a:t>
            </a:r>
            <a:endParaRPr lang="en-US" dirty="0"/>
          </a:p>
          <a:p>
            <a:r>
              <a:rPr lang="en-US" b="1"/>
              <a:t>Hazard function</a:t>
            </a:r>
            <a:r>
              <a:rPr lang="en-US"/>
              <a:t> h</a:t>
            </a:r>
            <a:r>
              <a:rPr lang="en-US" dirty="0"/>
              <a:t>(</a:t>
            </a:r>
            <a:r>
              <a:rPr lang="en-US"/>
              <a:t>t) — instantaneous rate of the event at time t, given survival up to t</a:t>
            </a:r>
            <a:endParaRPr lang="en-US" dirty="0"/>
          </a:p>
          <a:p>
            <a:r>
              <a:rPr lang="en-US" b="1"/>
              <a:t>Kaplan-Meier estimator:</a:t>
            </a:r>
            <a:r>
              <a:rPr lang="en-US"/>
              <a:t> Non-parametric estimate of S</a:t>
            </a:r>
            <a:r>
              <a:rPr lang="en-US" dirty="0"/>
              <a:t>(</a:t>
            </a:r>
            <a:r>
              <a:rPr lang="en-US"/>
              <a:t>t). Drops at each observed event time, accounts for censored observations between events. Used for visualization and log-rank tests</a:t>
            </a:r>
            <a:r>
              <a:rPr lang="en-US" dirty="0"/>
              <a:t>.</a:t>
            </a:r>
          </a:p>
          <a:p>
            <a:r>
              <a:rPr lang="en-US" b="1"/>
              <a:t>Cox proportional hazards model:</a:t>
            </a:r>
            <a:r>
              <a:rPr lang="en-US"/>
              <a:t> Semi-parametric regression for time-to-event outcomes. Models the hazard as h</a:t>
            </a:r>
            <a:r>
              <a:rPr lang="en-US" dirty="0"/>
              <a:t>₀(t)·exp(</a:t>
            </a:r>
            <a:r>
              <a:rPr lang="en-US"/>
              <a:t>Xᵀβ) — the baseline hazard h</a:t>
            </a:r>
            <a:r>
              <a:rPr lang="en-US" dirty="0"/>
              <a:t>₀(</a:t>
            </a:r>
            <a:r>
              <a:rPr lang="en-US"/>
              <a:t>t) is left unspecified, so inference focuses entirely on the coefficient vector β. The key assumption: </a:t>
            </a:r>
            <a:r>
              <a:rPr lang="en-US" b="1"/>
              <a:t>hazard ratios are constant over time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256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h_i</a:t>
            </a:r>
            <a:r>
              <a:rPr lang="en-US" b="1" dirty="0"/>
              <a:t>(</a:t>
            </a:r>
            <a:r>
              <a:rPr lang="en-US" b="1"/>
              <a:t>t)</a:t>
            </a:r>
            <a:r>
              <a:rPr lang="en-US"/>
              <a:t> — the hazard for person </a:t>
            </a:r>
            <a:r>
              <a:rPr lang="en-US" i="1"/>
              <a:t>i</a:t>
            </a:r>
            <a:r>
              <a:rPr lang="en-US"/>
              <a:t> at time </a:t>
            </a:r>
            <a:r>
              <a:rPr lang="en-US" i="1"/>
              <a:t>t</a:t>
            </a:r>
            <a:r>
              <a:rPr lang="en-US"/>
              <a:t>. Think of it as: "what is person </a:t>
            </a:r>
            <a:r>
              <a:rPr lang="en-US" i="1"/>
              <a:t>i</a:t>
            </a:r>
            <a:r>
              <a:rPr lang="en-US"/>
              <a:t>'s instantaneous risk of the event (AIDS or death) right now, given they've survived to time t</a:t>
            </a:r>
            <a:r>
              <a:rPr lang="en-US" dirty="0"/>
              <a:t>?"</a:t>
            </a:r>
          </a:p>
          <a:p>
            <a:r>
              <a:rPr lang="en-US" b="1" dirty="0"/>
              <a:t>h_0(</a:t>
            </a:r>
            <a:r>
              <a:rPr lang="en-US" b="1"/>
              <a:t>t)</a:t>
            </a:r>
            <a:r>
              <a:rPr lang="en-US"/>
              <a:t> — the </a:t>
            </a:r>
            <a:r>
              <a:rPr lang="en-US" b="1"/>
              <a:t>baseline hazard</a:t>
            </a:r>
            <a:r>
              <a:rPr lang="en-US"/>
              <a:t>. This is the hazard for a person when all their covariates equal zero. It's the part Cox left unspecified — you never actually estimate it, which is what makes the model semi-parametric</a:t>
            </a:r>
            <a:r>
              <a:rPr lang="en-US" dirty="0"/>
              <a:t>.</a:t>
            </a:r>
          </a:p>
          <a:p>
            <a:r>
              <a:rPr lang="en-US" b="1"/>
              <a:t>exp(...)</a:t>
            </a:r>
            <a:r>
              <a:rPr lang="en-US"/>
              <a:t> — everything inside the exponent shifts the baseline hazard up or down multiplicatively based on the person's characteristics</a:t>
            </a:r>
            <a:r>
              <a:rPr lang="en-US" dirty="0"/>
              <a:t>.</a:t>
            </a:r>
          </a:p>
          <a:p>
            <a:r>
              <a:rPr lang="en-US" b="1" dirty="0"/>
              <a:t>β</a:t>
            </a:r>
            <a:r>
              <a:rPr lang="en-US" b="1"/>
              <a:t>_1 T_i</a:t>
            </a:r>
            <a:r>
              <a:rPr lang="en-US"/>
              <a:t> — β_1 is the log hazard ratio for treatment. T_i is 1 if person </a:t>
            </a:r>
            <a:r>
              <a:rPr lang="en-US" i="1"/>
              <a:t>i</a:t>
            </a:r>
            <a:r>
              <a:rPr lang="en-US"/>
              <a:t> got indinavir, 0 if not. So exp</a:t>
            </a:r>
            <a:r>
              <a:rPr lang="en-US" dirty="0"/>
              <a:t>(β_</a:t>
            </a:r>
            <a:r>
              <a:rPr lang="en-US"/>
              <a:t>1) is the hazard ratio for treatment — in your paper, that comes out to 0.517, meaning indinavir cuts the hazard roughly in half</a:t>
            </a:r>
            <a:r>
              <a:rPr lang="en-US" dirty="0"/>
              <a:t>.</a:t>
            </a:r>
          </a:p>
          <a:p>
            <a:r>
              <a:rPr lang="en-US" b="1" dirty="0"/>
              <a:t>β_2</a:t>
            </a:r>
            <a:r>
              <a:rPr lang="en-US" b="1"/>
              <a:t>^T Z_i</a:t>
            </a:r>
            <a:r>
              <a:rPr lang="en-US"/>
              <a:t> — the superscript T here means </a:t>
            </a:r>
            <a:r>
              <a:rPr lang="en-US" i="1"/>
              <a:t>transpose</a:t>
            </a:r>
            <a:r>
              <a:rPr lang="en-US"/>
              <a:t>, not treatment. Z_i is a vector of the other covariates (age, CD4 count, Karnofsky score, etc.), and β_2 is the corresponding vector of coefficients. This term adjusts for all those baseline characteristics simultaneously</a:t>
            </a:r>
            <a:r>
              <a:rPr lang="en-US" dirty="0"/>
              <a:t>.</a:t>
            </a:r>
          </a:p>
          <a:p>
            <a:endParaRPr lang="en-US" sz="1200" b="1" dirty="0"/>
          </a:p>
          <a:p>
            <a:endParaRPr lang="en-US" sz="1200" b="1" dirty="0"/>
          </a:p>
          <a:p>
            <a:r>
              <a:rPr lang="en-US" sz="1200" b="1"/>
              <a:t>Other Baseline Covariates</a:t>
            </a:r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Baseline CD4 cell count (</a:t>
            </a:r>
            <a:r>
              <a:rPr lang="en-US" sz="1200" dirty="0"/>
              <a:t>cells/</a:t>
            </a:r>
            <a:r>
              <a:rPr lang="en-US" sz="1200"/>
              <a:t>mm</a:t>
            </a:r>
            <a:r>
              <a:rPr lang="en-US" sz="1200" baseline="30000"/>
              <a:t>3</a:t>
            </a:r>
            <a:r>
              <a:rPr lang="en-US" sz="1200"/>
              <a:t>) measured at enrollment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Participant age in years at enrollment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Karnofsky score: A clinical measure of functional status ranging from 0 to 100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Months of prior zidovudine (ZDV) use before enrollment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Indicator used for stratified randomization based on CD40 cell count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/>
            <a:r>
              <a:rPr lang="en-US" sz="2400"/>
              <a:t>The two curves separate early and remain clearly apart throughout follow-up</a:t>
            </a:r>
            <a:r>
              <a:rPr lang="en-US" sz="2400" dirty="0"/>
              <a:t>.</a:t>
            </a:r>
          </a:p>
          <a:p>
            <a:pPr lvl="1"/>
            <a:r>
              <a:rPr lang="en-US" sz="2400"/>
              <a:t>Indinavir group maintains substantially higher event-free survival probability</a:t>
            </a:r>
            <a:r>
              <a:rPr lang="en-U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87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A32EB-1BEE-C5FB-EAD2-293E20E4E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0AA36-FC30-6D9B-2812-CAAEC4347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BF49E-E432-8465-D8EA-A961ADA76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/>
              <a:t>Other Baseline Covariates</a:t>
            </a:r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Baseline CD4 cell count (</a:t>
            </a:r>
            <a:r>
              <a:rPr lang="en-US" sz="1200" dirty="0"/>
              <a:t>cells/</a:t>
            </a:r>
            <a:r>
              <a:rPr lang="en-US" sz="1200"/>
              <a:t>mm</a:t>
            </a:r>
            <a:r>
              <a:rPr lang="en-US" sz="1200" baseline="30000"/>
              <a:t>3</a:t>
            </a:r>
            <a:r>
              <a:rPr lang="en-US" sz="1200"/>
              <a:t>) measured at enrollment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Participant age in years at enrollment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Karnofsky score: A clinical measure of functional status ranging from 0 to 100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Months of prior zidovudine (ZDV) use before enrollment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Indicator used for stratified randomization based on CD40 cell count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0C960-788A-19FF-F26D-7560F9373F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88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E9895-5CF1-FECF-8E1D-CCA99FE5D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0B00E-D696-22EB-7672-C0AC2649C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D7154-CF7A-571A-919F-28EF1338C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/>
              <a:t>Other Baseline Covariates</a:t>
            </a:r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Baseline CD4 cell count (</a:t>
            </a:r>
            <a:r>
              <a:rPr lang="en-US" sz="1200" dirty="0"/>
              <a:t>cells/</a:t>
            </a:r>
            <a:r>
              <a:rPr lang="en-US" sz="1200"/>
              <a:t>mm</a:t>
            </a:r>
            <a:r>
              <a:rPr lang="en-US" sz="1200" baseline="30000"/>
              <a:t>3</a:t>
            </a:r>
            <a:r>
              <a:rPr lang="en-US" sz="1200"/>
              <a:t>) measured at enrollment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Participant age in years at enrollment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Karnofsky score: A clinical measure of functional status ranging from 0 to 100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Months of prior zidovudine (ZDV) use before enrollment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Indicator used for stratified randomization based on CD40 cell count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55DCC-8D43-0A1C-1679-42137EACB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15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Since clinical trials measure time-to-event, inference is based on number of events instead of sample size</a:t>
            </a:r>
          </a:p>
          <a:p>
            <a:r>
              <a:rPr lang="en-US" sz="1200" dirty="0"/>
              <a:t>The ACTG 320 study did not provide any explicit power analyses, so the power was estimated based on observed actuals</a:t>
            </a:r>
          </a:p>
          <a:p>
            <a:r>
              <a:rPr lang="en-US" sz="1200" dirty="0"/>
              <a:t>Only the Overall and Female groups were powered above 80%; all other groups were underpowered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3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Preliminary simulation analysis shows that many of the subgroups were significantly under powered, undermining in the efficacy of the hypothesis tests for subgroup treatment effect analyses</a:t>
            </a:r>
          </a:p>
          <a:p>
            <a:r>
              <a:rPr lang="en-US" dirty="0"/>
              <a:t>A power simulation analysis was conducted to estimate sample size needed to generate power with 80%</a:t>
            </a:r>
          </a:p>
          <a:p>
            <a:r>
              <a:rPr lang="en-US" dirty="0"/>
              <a:t>Effect sizes were readily available for most subgroups but had to be estimated based on plausible HR ranges and observed event rates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37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Due to extremely limited information, some subgroups would require prohibitively high sample rates</a:t>
            </a:r>
          </a:p>
          <a:p>
            <a:r>
              <a:rPr lang="en-US" sz="1200" dirty="0"/>
              <a:t>Extreme values highlight the instability of these estimates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66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C560-31B0-77EC-429F-C62DF1E85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15472-037B-0E77-BB7B-F4A1E6D87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3F16A-A172-0053-429C-2FFC4D9E1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766A-70DF-4EED-AD06-91C046CCC542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A51E7-F6CE-03C5-485A-5DFA3DFD8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EEADB-FF4E-7819-31A6-85B329F9A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60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2125-55A0-DD12-F085-D6BFFBE69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BF9E8-2E36-E825-08FE-3C98F9EE4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3B707-CBF4-EC10-58DB-F7DA8CA96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7FE21-2CD4-4765-8796-2AF547FCD935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71DA9-E69F-B7CD-B15D-86114732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8B6D4-0BC2-2204-E0FE-1639543EB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49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ADF4D-64FA-B08B-FF9E-0DF2CEA2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5E306-DF92-3577-39D1-DEDAD2FA9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86772-A0C7-1020-3CD6-4C2F3E347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B12C0-F489-429A-AE39-EF60A18F4EB4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16D2E-A55E-0FC5-A69D-D9A62E7D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48F52-8AB9-AEA3-1D07-808CE021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58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8450-C01D-AD75-E21A-B2BA63570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B1FCB-B110-77A0-F449-EE9BFE4F4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E209B-6459-C4D8-B9DC-2C1A4FCCF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02A6E-659E-5672-30C4-EA6E26841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563D-13E1-408D-93AB-67E59C14115F}" type="datetime1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0F989-C584-82A9-B001-13F6B0457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22284-C3CA-3730-0492-3905220BA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31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B8D17-E9FC-A0F4-BCAA-E7422240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0B1F0-A448-0099-BC58-BAD6546F2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C9893-8A84-5893-C74B-7D3DA84EC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3F76E-7048-2A12-558E-46EE8A805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3CBAE6-74A6-4C5D-0CA0-6C9FC9C977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D1FEA4-B98B-7EDD-2034-B7CE5DA51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27240-31ED-4540-8622-12CACEE245EE}" type="datetime1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E8AA1-B240-6678-36C1-7F484382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AF4FE5-2691-2CF8-4145-C8842F223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025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F59A6-7389-5C41-FE80-11A4F7D54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E67D6-B310-7171-1FA4-1E78DC957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3054F-A5B3-4ED5-9CC9-1E82D6C4F216}" type="datetime1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89FB6-B767-3389-C254-56ED1E8BE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7FD520-6E4A-18EC-6A5B-6A72FF58D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10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1B60EE-F87A-4988-FFB0-05904E6A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BC0E-F129-4245-AA2B-27E08B4EDF8B}" type="datetime1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1C1CDB-DECE-4130-FCB9-E0ECA0272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25F99-D698-6365-5D22-66B2E8712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118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8312-5ED4-C05D-BA5B-BFE31943E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D3908-A142-AD80-861A-5AD683BE4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ABFCD-C27C-8D18-3C4D-164CF8F67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3638E-1C22-DB1D-E4BD-60AC89BD3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8681E-A762-4AB5-A6A0-109C767AE03E}" type="datetime1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86F6C-96D4-E576-9653-25B29BEB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9FBA1-B164-0150-5AC5-C52CD0188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1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E076E-D6E1-189F-2807-97B282C2A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A68E3A-D62A-F512-CCD9-1C5F7BA1ED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A6EC8-A91A-5253-DCDD-E2A10AC18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97E1C-EA93-F50F-D49B-BF5A604E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84EF8-0EC5-414E-B27B-6A9E812407A3}" type="datetime1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0A0CD-BD60-2DDF-068A-BC563A14C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C4CCC-1743-5F98-212A-480C969F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6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CD204-0EDE-ACE8-4967-2F94C10DE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EF0AA-989C-1747-0B73-160FC57C7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4BCA-A461-5808-72A8-716EB55A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51F4-C417-4178-9C4F-AE395D6DEFF8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2628C-0E36-3132-448B-E082F14BF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28DA-76BB-104C-11AB-1D4DE6899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08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6CCDB4-68E2-9CF2-0AB3-6332D3F2B1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9593FD-00A4-90F4-2E58-F694B5059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01A15-2B32-98D7-F25D-F6CCEC63C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068D-DD41-4230-AE56-63E074B1D952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66FE5-70F1-5EFE-DB3F-401D5AE49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518F6-CC2B-D9C7-F76E-2B581D51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1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5D6913-1F3A-DF50-7816-4411B9783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FCB73-2FAC-F2ED-1DA2-CFC51B855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A9949-57E9-24B6-B345-643828A5A9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3C63F-9209-4850-A260-94E98C5748EF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08C2B-288E-230C-CDF3-18A64E9E8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9BE7A-6FBB-A3FB-9732-803B1D214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80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BC5359-89EE-EAA3-F872-48E4FD8874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2" r="17707" b="-1"/>
          <a:stretch>
            <a:fillRect/>
          </a:stretch>
        </p:blipFill>
        <p:spPr>
          <a:xfrm>
            <a:off x="4283902" y="10"/>
            <a:ext cx="7908098" cy="685799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B04BD5-13A7-AB46-5A0E-8F0271383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663" y="1115219"/>
            <a:ext cx="5505449" cy="2387600"/>
          </a:xfrm>
        </p:spPr>
        <p:txBody>
          <a:bodyPr anchorCtr="0">
            <a:normAutofit/>
          </a:bodyPr>
          <a:lstStyle/>
          <a:p>
            <a:pPr algn="l"/>
            <a:r>
              <a:rPr lang="en-US" sz="3900" b="1" dirty="0">
                <a:solidFill>
                  <a:schemeClr val="bg1"/>
                </a:solidFill>
              </a:rPr>
              <a:t>Represented but Underpowered: Subgroup Inference in the ACTG 320 Trial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51C4B6-6C90-D09D-061D-48E961F91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5505449" cy="1655762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Susan Peck, Jan Blackburn, Joseph Burks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Math 261B - Spring 2026</a:t>
            </a:r>
          </a:p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4391C-AAAC-70C5-37BD-D5C6EB8F3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E78427E-3D83-4E05-BBD0-5A5577BF92C2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610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22850-9271-D001-4067-F02A6D449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658475" cy="792164"/>
          </a:xfrm>
        </p:spPr>
        <p:txBody>
          <a:bodyPr>
            <a:noAutofit/>
          </a:bodyPr>
          <a:lstStyle/>
          <a:p>
            <a:r>
              <a:rPr lang="en-US"/>
              <a:t>Today’s 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949DC-CEB1-9804-CE83-BDF1F063C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Research Questions and Study Design</a:t>
            </a:r>
            <a:endParaRPr lang="en-US" dirty="0"/>
          </a:p>
          <a:p>
            <a:r>
              <a:rPr lang="en-US"/>
              <a:t>Participant Descriptive Statistics</a:t>
            </a:r>
            <a:endParaRPr lang="en-US" dirty="0"/>
          </a:p>
          <a:p>
            <a:r>
              <a:rPr lang="en-US"/>
              <a:t>Survival Analysis Methods</a:t>
            </a:r>
            <a:endParaRPr lang="en-US" dirty="0"/>
          </a:p>
          <a:p>
            <a:r>
              <a:rPr lang="en-US"/>
              <a:t>Full Group and Subgroup Results</a:t>
            </a:r>
            <a:endParaRPr lang="en-US" dirty="0"/>
          </a:p>
          <a:p>
            <a:r>
              <a:rPr lang="en-US"/>
              <a:t>Power Analysis and Sample Size Requirements</a:t>
            </a:r>
            <a:endParaRPr lang="en-US" dirty="0"/>
          </a:p>
          <a:p>
            <a:r>
              <a:rPr lang="en-US"/>
              <a:t>Conclusions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0DD36-D078-ABD8-00E6-AB75E9D96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66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1B8B3-0E96-7DCB-6896-19614CF8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1"/>
            <a:ext cx="10515600" cy="793750"/>
          </a:xfrm>
        </p:spPr>
        <p:txBody>
          <a:bodyPr/>
          <a:lstStyle/>
          <a:p>
            <a:r>
              <a:rPr lang="en-US"/>
              <a:t>Research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C495F-9D76-6A7B-8815-8DAF2B5D1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125537"/>
            <a:ext cx="10515600" cy="4332287"/>
          </a:xfrm>
        </p:spPr>
        <p:txBody>
          <a:bodyPr>
            <a:normAutofit lnSpcReduction="10000"/>
          </a:bodyPr>
          <a:lstStyle/>
          <a:p>
            <a:pPr marL="971550" lvl="1" indent="-514350">
              <a:buFont typeface="+mj-lt"/>
              <a:buAutoNum type="arabicParenR"/>
            </a:pPr>
            <a:r>
              <a:rPr lang="en-US" sz="3200"/>
              <a:t>Were sex and race/ethnicity subgroups adequately powered to detect treatment effects</a:t>
            </a:r>
            <a:r>
              <a:rPr lang="en-US" sz="3200" dirty="0"/>
              <a:t>?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3200"/>
              <a:t>Was indinavir’s benefit consistent across subgroups</a:t>
            </a:r>
            <a:r>
              <a:rPr lang="en-US" sz="3200" dirty="0"/>
              <a:t>?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3200"/>
              <a:t>What enrollment would be required in a future study to achieve adequate power for all subgroups</a:t>
            </a:r>
            <a:r>
              <a:rPr lang="en-US" sz="3200" dirty="0"/>
              <a:t>?</a:t>
            </a:r>
          </a:p>
          <a:p>
            <a:pPr marL="971550" lvl="1" indent="-514350">
              <a:buFont typeface="+mj-lt"/>
              <a:buAutoNum type="arabicParenR"/>
            </a:pPr>
            <a:endParaRPr lang="en-US" sz="3200" dirty="0"/>
          </a:p>
          <a:p>
            <a:pPr marL="457200" lvl="1" indent="0">
              <a:buNone/>
            </a:pPr>
            <a:r>
              <a:rPr lang="en-US" sz="3200" b="1"/>
              <a:t>Key challenge</a:t>
            </a:r>
            <a:r>
              <a:rPr lang="en-US" sz="3200" b="1" dirty="0"/>
              <a:t>:</a:t>
            </a:r>
          </a:p>
          <a:p>
            <a:pPr marL="457200" lvl="1" indent="0">
              <a:buNone/>
            </a:pPr>
            <a:r>
              <a:rPr lang="en-US" sz="3200"/>
              <a:t>In survival analyses, statistical power is driven by number of observed events, not sample size alone</a:t>
            </a:r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09A4A-7E31-EA06-8416-CE8FF91C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38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77B03-88F2-94CA-0586-2D4E3A535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628A4-396C-0C10-030C-AEA53E7EB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1"/>
            <a:ext cx="10515600" cy="793750"/>
          </a:xfrm>
        </p:spPr>
        <p:txBody>
          <a:bodyPr/>
          <a:lstStyle/>
          <a:p>
            <a:r>
              <a:rPr lang="en-US"/>
              <a:t>ACTG 320 Study Design (Hammer et al. 1997</a:t>
            </a:r>
            <a:r>
              <a:rPr lang="en-US" dirty="0"/>
              <a:t>)</a:t>
            </a:r>
          </a:p>
        </p:txBody>
      </p:sp>
      <p:sp>
        <p:nvSpPr>
          <p:cNvPr id="10" name="Left Content">
            <a:extLst>
              <a:ext uri="{FF2B5EF4-FFF2-40B4-BE49-F238E27FC236}">
                <a16:creationId xmlns:a16="http://schemas.microsoft.com/office/drawing/2014/main" id="{059C6BD1-A252-FB90-8924-E865CE908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050000"/>
            <a:ext cx="5200000" cy="5500000"/>
          </a:xfrm>
        </p:spPr>
        <p:txBody>
          <a:bodyPr>
            <a:normAutofit/>
          </a:bodyPr>
          <a:lstStyle/>
          <a:p>
            <a:r>
              <a:rPr lang="en-US" sz="2600"/>
              <a:t>Multi-center, randomized, double-blind, placebo-controlled trial</a:t>
            </a:r>
            <a:endParaRPr lang="en-US" sz="2600" dirty="0"/>
          </a:p>
          <a:p>
            <a:r>
              <a:rPr lang="en-US" sz="2600"/>
              <a:t>1,151 adults with advanced HIV (CD4 ≤ 200 cells</a:t>
            </a:r>
            <a:r>
              <a:rPr lang="en-US" sz="2600" dirty="0"/>
              <a:t>/mm³)</a:t>
            </a:r>
          </a:p>
          <a:p>
            <a:r>
              <a:rPr lang="en-US" sz="2600"/>
              <a:t>Participants randomized within two CD4 count blocks</a:t>
            </a:r>
            <a:endParaRPr lang="en-US" sz="2600" dirty="0"/>
          </a:p>
          <a:p>
            <a:endParaRPr lang="en-US" sz="2200" dirty="0"/>
          </a:p>
          <a:p>
            <a:pPr marL="0" indent="0">
              <a:buNone/>
            </a:pPr>
            <a:r>
              <a:rPr lang="en-US" sz="2400" b="1"/>
              <a:t>Treatment Groups</a:t>
            </a:r>
            <a:endParaRPr lang="en-US" sz="2400" b="1" dirty="0"/>
          </a:p>
          <a:p>
            <a:r>
              <a:rPr lang="en-US" sz="2600"/>
              <a:t>Control: standard two-drug regimen</a:t>
            </a:r>
            <a:endParaRPr lang="en-US" sz="2600" dirty="0"/>
          </a:p>
          <a:p>
            <a:r>
              <a:rPr lang="en-US" sz="2600"/>
              <a:t>Treatment: same regimen + protease inhibitor indinavir</a:t>
            </a:r>
            <a:endParaRPr lang="en-US" sz="2600" dirty="0"/>
          </a:p>
        </p:txBody>
      </p:sp>
      <p:sp>
        <p:nvSpPr>
          <p:cNvPr id="11" name="Right Content">
            <a:extLst>
              <a:ext uri="{FF2B5EF4-FFF2-40B4-BE49-F238E27FC236}">
                <a16:creationId xmlns:a16="http://schemas.microsoft.com/office/drawing/2014/main" id="{42E6A872-888D-F68A-5B95-B29B7656D70D}"/>
              </a:ext>
            </a:extLst>
          </p:cNvPr>
          <p:cNvSpPr txBox="1"/>
          <p:nvPr/>
        </p:nvSpPr>
        <p:spPr>
          <a:xfrm>
            <a:off x="6100000" y="1050000"/>
            <a:ext cx="5800000" cy="489364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400" b="1"/>
              <a:t>Primary Outcome</a:t>
            </a:r>
            <a:endParaRPr lang="en-US" sz="2400" b="1" dirty="0"/>
          </a:p>
          <a:p>
            <a:pPr lvl="1"/>
            <a:r>
              <a:rPr lang="en-US" sz="2400"/>
              <a:t>Days to AIDS-defining illness or death (</a:t>
            </a:r>
            <a:r>
              <a:rPr lang="en-US" sz="2400" dirty="0"/>
              <a:t>time-to-event)</a:t>
            </a:r>
          </a:p>
          <a:p>
            <a:endParaRPr lang="en-US" sz="2400" dirty="0"/>
          </a:p>
          <a:p>
            <a:r>
              <a:rPr lang="en-US" sz="2400" b="1"/>
              <a:t>Subgroups Analyzed</a:t>
            </a:r>
            <a:endParaRPr lang="en-US" sz="2400" b="1" dirty="0"/>
          </a:p>
          <a:p>
            <a:pPr lvl="1"/>
            <a:r>
              <a:rPr lang="en-US" sz="2400"/>
              <a:t>Sex: Female (83%), Male (</a:t>
            </a:r>
            <a:r>
              <a:rPr lang="en-US" sz="2400" dirty="0"/>
              <a:t>17%)</a:t>
            </a:r>
          </a:p>
          <a:p>
            <a:pPr lvl="1"/>
            <a:r>
              <a:rPr lang="en-US" sz="2400" dirty="0"/>
              <a:t>Race/</a:t>
            </a:r>
            <a:r>
              <a:rPr lang="en-US" sz="2400"/>
              <a:t>Ethnicity: White (52%), Black (28%), Hispanic (18%), Asian/PI (1%), Other (</a:t>
            </a:r>
            <a:r>
              <a:rPr lang="en-US" sz="2400" dirty="0"/>
              <a:t>1%)</a:t>
            </a:r>
          </a:p>
          <a:p>
            <a:endParaRPr lang="en-US" sz="2400" dirty="0"/>
          </a:p>
          <a:p>
            <a:r>
              <a:rPr lang="en-US" sz="2400" b="1"/>
              <a:t>Covariates Adjusted</a:t>
            </a:r>
            <a:endParaRPr lang="en-US" sz="2400" b="1" dirty="0"/>
          </a:p>
          <a:p>
            <a:pPr lvl="1"/>
            <a:r>
              <a:rPr lang="en-US" sz="2400"/>
              <a:t>Age, baseline CD4 count, Karnofsky score, prior ZDV use, CD4 stratum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2109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4CF84-53F6-946A-CA94-D30D0DCA1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515600" cy="792163"/>
          </a:xfrm>
        </p:spPr>
        <p:txBody>
          <a:bodyPr/>
          <a:lstStyle/>
          <a:p>
            <a:r>
              <a:rPr lang="en-US"/>
              <a:t>Participant Group Descriptive Statistics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8DF3C-B02D-A675-3F9E-6D1D076CC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12" name="Content Placeholder 8">
            <a:extLst>
              <a:ext uri="{FF2B5EF4-FFF2-40B4-BE49-F238E27FC236}">
                <a16:creationId xmlns:a16="http://schemas.microsoft.com/office/drawing/2014/main" id="{B4D5DA4C-982E-79DE-5E7B-67D1EB78B0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5465446"/>
              </p:ext>
            </p:extLst>
          </p:nvPr>
        </p:nvGraphicFramePr>
        <p:xfrm>
          <a:off x="3270522" y="944563"/>
          <a:ext cx="5650955" cy="1438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9882">
                  <a:extLst>
                    <a:ext uri="{9D8B030D-6E8A-4147-A177-3AD203B41FA5}">
                      <a16:colId xmlns:a16="http://schemas.microsoft.com/office/drawing/2014/main" val="3114019077"/>
                    </a:ext>
                  </a:extLst>
                </a:gridCol>
                <a:gridCol w="1302020">
                  <a:extLst>
                    <a:ext uri="{9D8B030D-6E8A-4147-A177-3AD203B41FA5}">
                      <a16:colId xmlns:a16="http://schemas.microsoft.com/office/drawing/2014/main" val="920085322"/>
                    </a:ext>
                  </a:extLst>
                </a:gridCol>
                <a:gridCol w="1719053">
                  <a:extLst>
                    <a:ext uri="{9D8B030D-6E8A-4147-A177-3AD203B41FA5}">
                      <a16:colId xmlns:a16="http://schemas.microsoft.com/office/drawing/2014/main" val="3444253593"/>
                    </a:ext>
                  </a:extLst>
                </a:gridCol>
              </a:tblGrid>
              <a:tr h="479573">
                <a:tc>
                  <a:txBody>
                    <a:bodyPr/>
                    <a:lstStyle/>
                    <a:p>
                      <a:r>
                        <a:rPr lang="en-US" sz="2000"/>
                        <a:t>Treatment Group</a:t>
                      </a:r>
                      <a:endParaRPr lang="en-US" sz="2000" dirty="0"/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335835"/>
                  </a:ext>
                </a:extLst>
              </a:tr>
              <a:tr h="479573">
                <a:tc>
                  <a:txBody>
                    <a:bodyPr/>
                    <a:lstStyle/>
                    <a:p>
                      <a:r>
                        <a:rPr lang="en-US" sz="2000"/>
                        <a:t>Control (no indinavir</a:t>
                      </a:r>
                      <a:r>
                        <a:rPr lang="en-US" sz="2000" dirty="0"/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577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50.1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1896779"/>
                  </a:ext>
                </a:extLst>
              </a:tr>
              <a:tr h="479573">
                <a:tc>
                  <a:txBody>
                    <a:bodyPr/>
                    <a:lstStyle/>
                    <a:p>
                      <a:r>
                        <a:rPr lang="en-US" sz="2000"/>
                        <a:t>Treatment (</a:t>
                      </a:r>
                      <a:r>
                        <a:rPr lang="en-US" sz="2000" dirty="0"/>
                        <a:t>indinavir)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574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49.9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856691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0AAC7BB-3306-5666-DBED-3DD23E1C2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068068"/>
              </p:ext>
            </p:extLst>
          </p:nvPr>
        </p:nvGraphicFramePr>
        <p:xfrm>
          <a:off x="2255420" y="2705646"/>
          <a:ext cx="7395410" cy="365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263">
                  <a:extLst>
                    <a:ext uri="{9D8B030D-6E8A-4147-A177-3AD203B41FA5}">
                      <a16:colId xmlns:a16="http://schemas.microsoft.com/office/drawing/2014/main" val="772587959"/>
                    </a:ext>
                  </a:extLst>
                </a:gridCol>
                <a:gridCol w="1609948">
                  <a:extLst>
                    <a:ext uri="{9D8B030D-6E8A-4147-A177-3AD203B41FA5}">
                      <a16:colId xmlns:a16="http://schemas.microsoft.com/office/drawing/2014/main" val="1333839601"/>
                    </a:ext>
                  </a:extLst>
                </a:gridCol>
                <a:gridCol w="1439489">
                  <a:extLst>
                    <a:ext uri="{9D8B030D-6E8A-4147-A177-3AD203B41FA5}">
                      <a16:colId xmlns:a16="http://schemas.microsoft.com/office/drawing/2014/main" val="2467871587"/>
                    </a:ext>
                  </a:extLst>
                </a:gridCol>
                <a:gridCol w="1561355">
                  <a:extLst>
                    <a:ext uri="{9D8B030D-6E8A-4147-A177-3AD203B41FA5}">
                      <a16:colId xmlns:a16="http://schemas.microsoft.com/office/drawing/2014/main" val="1879297196"/>
                    </a:ext>
                  </a:extLst>
                </a:gridCol>
                <a:gridCol w="1561355">
                  <a:extLst>
                    <a:ext uri="{9D8B030D-6E8A-4147-A177-3AD203B41FA5}">
                      <a16:colId xmlns:a16="http://schemas.microsoft.com/office/drawing/2014/main" val="21175884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Subgroup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Observations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Events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% of Sample</a:t>
                      </a:r>
                      <a:endParaRPr lang="en-US" sz="2000" dirty="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Event Rate %</a:t>
                      </a:r>
                      <a:endParaRPr lang="en-US" sz="2000" dirty="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315955"/>
                  </a:ext>
                </a:extLst>
              </a:tr>
              <a:tr h="406808">
                <a:tc>
                  <a:txBody>
                    <a:bodyPr/>
                    <a:lstStyle/>
                    <a:p>
                      <a:r>
                        <a:rPr lang="en-US" sz="2000" dirty="0"/>
                        <a:t>Female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82.6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8.5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3263226"/>
                  </a:ext>
                </a:extLst>
              </a:tr>
              <a:tr h="406808">
                <a:tc>
                  <a:txBody>
                    <a:bodyPr/>
                    <a:lstStyle/>
                    <a:p>
                      <a:r>
                        <a:rPr lang="en-US" sz="2000" dirty="0"/>
                        <a:t>Male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17.4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7.5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8873396"/>
                  </a:ext>
                </a:extLst>
              </a:tr>
              <a:tr h="406808">
                <a:tc>
                  <a:txBody>
                    <a:bodyPr/>
                    <a:lstStyle/>
                    <a:p>
                      <a:r>
                        <a:rPr lang="en-US" sz="2000" dirty="0"/>
                        <a:t>White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596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51.8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8.6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8515526"/>
                  </a:ext>
                </a:extLst>
              </a:tr>
              <a:tr h="406808">
                <a:tc>
                  <a:txBody>
                    <a:bodyPr/>
                    <a:lstStyle/>
                    <a:p>
                      <a:r>
                        <a:rPr lang="en-US" sz="2000" dirty="0"/>
                        <a:t>Black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327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28.4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2470211"/>
                  </a:ext>
                </a:extLst>
              </a:tr>
              <a:tr h="406808">
                <a:tc>
                  <a:txBody>
                    <a:bodyPr/>
                    <a:lstStyle/>
                    <a:p>
                      <a:r>
                        <a:rPr lang="en-US" sz="2000" dirty="0"/>
                        <a:t>Hispanic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17.6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9.9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3727366"/>
                  </a:ext>
                </a:extLst>
              </a:tr>
              <a:tr h="406808">
                <a:tc>
                  <a:txBody>
                    <a:bodyPr/>
                    <a:lstStyle/>
                    <a:p>
                      <a:r>
                        <a:rPr lang="en-US" sz="2000" dirty="0"/>
                        <a:t>Asian/PI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1.2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21.4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476638"/>
                  </a:ext>
                </a:extLst>
              </a:tr>
              <a:tr h="406808">
                <a:tc>
                  <a:txBody>
                    <a:bodyPr/>
                    <a:lstStyle/>
                    <a:p>
                      <a:r>
                        <a:rPr lang="en-US" sz="2000" dirty="0"/>
                        <a:t>Other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9.1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9075761"/>
                  </a:ext>
                </a:extLst>
              </a:tr>
              <a:tr h="406808">
                <a:tc>
                  <a:txBody>
                    <a:bodyPr/>
                    <a:lstStyle/>
                    <a:p>
                      <a:r>
                        <a:rPr lang="en-US" sz="2000" b="1" dirty="0"/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1151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96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100%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8.3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812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0761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F2B7-E309-7D90-A163-C7269D478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Cox Proportional Hazard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1F7FC-AB28-D300-8280-ABEBB80BB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9557"/>
            <a:ext cx="10515600" cy="8189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Hazard Ratio (HR) compares the risk of an event occurring between two groups or individuals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E5585A6-A6DC-664A-3F82-D3A79D173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F66E12-F496-D998-82BB-41E87AE91F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638" y="1248443"/>
            <a:ext cx="8756724" cy="436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807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1E2E1-09E4-5A83-00A3-78180B6E9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658475" cy="777876"/>
          </a:xfrm>
        </p:spPr>
        <p:txBody>
          <a:bodyPr>
            <a:normAutofit/>
          </a:bodyPr>
          <a:lstStyle/>
          <a:p>
            <a:r>
              <a:rPr lang="en-US"/>
              <a:t>Full Group Treatment Effect Replication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BB0088-6ED7-1668-D992-3009A5A371B0}"/>
                  </a:ext>
                </a:extLst>
              </p:cNvPr>
              <p:cNvSpPr txBox="1"/>
              <p:nvPr/>
            </p:nvSpPr>
            <p:spPr>
              <a:xfrm>
                <a:off x="722359" y="3602738"/>
                <a:ext cx="4103988" cy="1482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/>
                <a:endParaRPr lang="en-US" sz="2400" dirty="0"/>
              </a:p>
              <a:p>
                <a:pPr lvl="1"/>
                <a:r>
                  <a:rPr lang="en-US" sz="2400"/>
                  <a:t>T is binary treatment</a:t>
                </a:r>
                <a:endParaRPr lang="en-US" sz="2400" dirty="0"/>
              </a:p>
              <a:p>
                <a:pPr lvl="1"/>
                <a:r>
                  <a:rPr lang="en-US" sz="2400"/>
                  <a:t>Z is covariate vector</a:t>
                </a:r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BB0088-6ED7-1668-D992-3009A5A37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359" y="3602738"/>
                <a:ext cx="4103988" cy="1482522"/>
              </a:xfrm>
              <a:prstGeom prst="rect">
                <a:avLst/>
              </a:prstGeom>
              <a:blipFill>
                <a:blip r:embed="rId3"/>
                <a:stretch>
                  <a:fillRect l="-2226" b="-115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8CFC45BE-AEFD-6C78-962A-7C47ACA62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12856-50A5-3D37-9754-04485020DA10}"/>
              </a:ext>
            </a:extLst>
          </p:cNvPr>
          <p:cNvSpPr txBox="1"/>
          <p:nvPr/>
        </p:nvSpPr>
        <p:spPr>
          <a:xfrm>
            <a:off x="1808245" y="1264761"/>
            <a:ext cx="843263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Treatment HR = 0.517 [0.339, 0.788] (p-value = 0.002</a:t>
            </a:r>
            <a:r>
              <a:rPr lang="en-US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Indinavir therapy reduced hazard of AIDS or death by ~</a:t>
            </a:r>
            <a:r>
              <a:rPr lang="en-US" sz="2400" dirty="0"/>
              <a:t>48%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Consistent with original finding Hammer et al. (</a:t>
            </a:r>
            <a:r>
              <a:rPr lang="en-US" sz="2400" dirty="0"/>
              <a:t>1997)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075B51-60F2-F6BB-64B7-16DFEEE0C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096" y="2576802"/>
            <a:ext cx="7028724" cy="428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519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73FC7-F2FA-CBDE-1A1A-FC2DC9273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61015-6527-C28B-3C07-C8E899D1D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73621"/>
            <a:ext cx="10515600" cy="777875"/>
          </a:xfrm>
        </p:spPr>
        <p:txBody>
          <a:bodyPr>
            <a:normAutofit/>
          </a:bodyPr>
          <a:lstStyle/>
          <a:p>
            <a:r>
              <a:rPr lang="en-US"/>
              <a:t>Sex Subgroup Interaction Effects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78F996-AFB0-F08F-0BCD-33ECE21E428B}"/>
                  </a:ext>
                </a:extLst>
              </p:cNvPr>
              <p:cNvSpPr txBox="1"/>
              <p:nvPr/>
            </p:nvSpPr>
            <p:spPr>
              <a:xfrm>
                <a:off x="2922086" y="1130074"/>
                <a:ext cx="6347828" cy="11150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𝐺𝑖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/>
                <a:endParaRPr lang="en-US" sz="2400" dirty="0"/>
              </a:p>
              <a:p>
                <a:pPr/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78F996-AFB0-F08F-0BCD-33ECE21E4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2086" y="1130074"/>
                <a:ext cx="6347828" cy="1115049"/>
              </a:xfrm>
              <a:prstGeom prst="rect">
                <a:avLst/>
              </a:prstGeom>
              <a:blipFill>
                <a:blip r:embed="rId3"/>
                <a:stretch>
                  <a:fillRect l="-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84A45-C245-A4B2-A76C-F14D7232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00830"/>
            <a:ext cx="2743200" cy="365125"/>
          </a:xfrm>
        </p:spPr>
        <p:txBody>
          <a:bodyPr/>
          <a:lstStyle/>
          <a:p>
            <a:fld id="{EE78427E-3D83-4E05-BBD0-5A5577BF92C2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1E1364-7E83-A549-CA40-262427C2FCD6}"/>
              </a:ext>
            </a:extLst>
          </p:cNvPr>
          <p:cNvSpPr txBox="1"/>
          <p:nvPr/>
        </p:nvSpPr>
        <p:spPr>
          <a:xfrm>
            <a:off x="5848045" y="1942274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Sex Interaction Model</a:t>
            </a:r>
            <a:endParaRPr lang="en-US" sz="2400" b="1" dirty="0"/>
          </a:p>
          <a:p>
            <a:pPr lvl="1"/>
            <a:r>
              <a:rPr lang="en-US" sz="2400"/>
              <a:t>LRT p = 0.2187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/>
              <a:t>Subgroup-Specific Hazard Ratios</a:t>
            </a:r>
            <a:endParaRPr lang="en-US" sz="2400" b="1" dirty="0"/>
          </a:p>
          <a:p>
            <a:pPr lvl="1"/>
            <a:r>
              <a:rPr lang="en-US" sz="2400" dirty="0">
                <a:solidFill>
                  <a:srgbClr val="1A5276"/>
                </a:solidFill>
              </a:rPr>
              <a:t>Female:</a:t>
            </a:r>
            <a:r>
              <a:rPr lang="en-US" sz="2400">
                <a:solidFill>
                  <a:srgbClr val="1A5276"/>
                </a:solidFill>
              </a:rPr>
              <a:t>	HR = 0.459 [0.288, 0.732</a:t>
            </a:r>
            <a:r>
              <a:rPr lang="en-US" sz="2400" dirty="0">
                <a:solidFill>
                  <a:srgbClr val="1A5276"/>
                </a:solidFill>
              </a:rPr>
              <a:t>]</a:t>
            </a:r>
          </a:p>
          <a:p>
            <a:pPr lvl="1"/>
            <a:r>
              <a:rPr lang="en-US" sz="2400">
                <a:solidFill>
                  <a:srgbClr val="922B21"/>
                </a:solidFill>
              </a:rPr>
              <a:t>Male: 	HR = 1.101 [0.393, 3.087</a:t>
            </a:r>
            <a:r>
              <a:rPr lang="en-US" sz="2400" dirty="0">
                <a:solidFill>
                  <a:srgbClr val="922B21"/>
                </a:solidFill>
              </a:rPr>
              <a:t>]</a:t>
            </a:r>
          </a:p>
          <a:p>
            <a:endParaRPr lang="en-US" sz="2400" dirty="0">
              <a:solidFill>
                <a:srgbClr val="922B21"/>
              </a:solidFill>
            </a:endParaRPr>
          </a:p>
          <a:p>
            <a:r>
              <a:rPr lang="en-US" sz="2400" b="1" dirty="0"/>
              <a:t>Interpretation</a:t>
            </a:r>
          </a:p>
          <a:p>
            <a:pPr lvl="1"/>
            <a:r>
              <a:rPr lang="en-US" sz="2400"/>
              <a:t>Male subgroup is severely underpowered. Wide CI and unstable HR mean we cannot draw conclusions about male-specific treatment benefit</a:t>
            </a:r>
            <a:r>
              <a:rPr lang="en-US" sz="24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8902E-204D-6030-B930-7BDA2E5B642F}"/>
              </a:ext>
            </a:extLst>
          </p:cNvPr>
          <p:cNvSpPr txBox="1"/>
          <p:nvPr/>
        </p:nvSpPr>
        <p:spPr>
          <a:xfrm>
            <a:off x="247955" y="1942274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Key Interaction Terms</a:t>
            </a:r>
            <a:endParaRPr lang="en-US" sz="2400" b="1" dirty="0"/>
          </a:p>
          <a:p>
            <a:r>
              <a:rPr lang="en-US" sz="2400" b="1" dirty="0"/>
              <a:t>		</a:t>
            </a:r>
            <a:r>
              <a:rPr lang="en-US" sz="2400" b="1"/>
              <a:t>	HR  p-value</a:t>
            </a:r>
            <a:endParaRPr lang="en-US" sz="2400" b="1" dirty="0"/>
          </a:p>
          <a:p>
            <a:pPr lvl="1"/>
            <a:r>
              <a:rPr lang="en-US" sz="2400" dirty="0"/>
              <a:t>Treatment	</a:t>
            </a:r>
            <a:r>
              <a:rPr lang="en-US" sz="2400"/>
              <a:t>	0.460  0.001</a:t>
            </a:r>
            <a:endParaRPr lang="en-US" sz="2400" dirty="0"/>
          </a:p>
          <a:p>
            <a:pPr lvl="1"/>
            <a:r>
              <a:rPr lang="en-US" sz="2400"/>
              <a:t>Sex </a:t>
            </a:r>
            <a:r>
              <a:rPr lang="en-US" sz="2400" dirty="0"/>
              <a:t>	</a:t>
            </a:r>
            <a:r>
              <a:rPr lang="en-US" sz="2400"/>
              <a:t>	0.854  0.679</a:t>
            </a:r>
            <a:endParaRPr lang="en-US" sz="2400" dirty="0"/>
          </a:p>
          <a:p>
            <a:pPr lvl="1"/>
            <a:r>
              <a:rPr lang="en-US" sz="2400" dirty="0">
                <a:solidFill>
                  <a:srgbClr val="922B21"/>
                </a:solidFill>
              </a:rPr>
              <a:t>Interaction</a:t>
            </a:r>
            <a:r>
              <a:rPr lang="en-US" sz="2400">
                <a:solidFill>
                  <a:srgbClr val="922B21"/>
                </a:solidFill>
              </a:rPr>
              <a:t>	2.034  0.214</a:t>
            </a:r>
            <a:endParaRPr lang="en-US" sz="2400" dirty="0">
              <a:solidFill>
                <a:srgbClr val="922B21"/>
              </a:solidFill>
            </a:endParaRPr>
          </a:p>
          <a:p>
            <a:pPr lvl="1"/>
            <a:endParaRPr lang="en-US" sz="2400" dirty="0"/>
          </a:p>
          <a:p>
            <a:r>
              <a:rPr lang="en-US" sz="2400" b="1"/>
              <a:t>Group Counts</a:t>
            </a:r>
            <a:endParaRPr lang="en-US" sz="2400" b="1" dirty="0"/>
          </a:p>
          <a:p>
            <a:pPr lvl="1"/>
            <a:r>
              <a:rPr lang="en-US" sz="2400" dirty="0"/>
              <a:t>Female:	n=</a:t>
            </a:r>
            <a:r>
              <a:rPr lang="en-US" sz="2400"/>
              <a:t>951, events</a:t>
            </a:r>
            <a:r>
              <a:rPr lang="en-US" sz="2400" dirty="0"/>
              <a:t>=81</a:t>
            </a:r>
          </a:p>
          <a:p>
            <a:pPr lvl="1"/>
            <a:r>
              <a:rPr lang="en-US" sz="2400" dirty="0">
                <a:solidFill>
                  <a:srgbClr val="922B21"/>
                </a:solidFill>
              </a:rPr>
              <a:t>Male:	n=</a:t>
            </a:r>
            <a:r>
              <a:rPr lang="en-US" sz="2400">
                <a:solidFill>
                  <a:srgbClr val="922B21"/>
                </a:solidFill>
              </a:rPr>
              <a:t>200, events</a:t>
            </a:r>
            <a:r>
              <a:rPr lang="en-US" sz="2400" dirty="0">
                <a:solidFill>
                  <a:srgbClr val="922B21"/>
                </a:solidFill>
              </a:rPr>
              <a:t>=15</a:t>
            </a:r>
          </a:p>
        </p:txBody>
      </p:sp>
    </p:spTree>
    <p:extLst>
      <p:ext uri="{BB962C8B-B14F-4D97-AF65-F5344CB8AC3E}">
        <p14:creationId xmlns:p14="http://schemas.microsoft.com/office/powerpoint/2010/main" val="536197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086C6-809B-B0EA-42ED-E9FD680AC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DD04A-E984-DF96-7ADF-4EF8431A9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619" y="173622"/>
            <a:ext cx="10515600" cy="777875"/>
          </a:xfrm>
        </p:spPr>
        <p:txBody>
          <a:bodyPr>
            <a:normAutofit/>
          </a:bodyPr>
          <a:lstStyle/>
          <a:p>
            <a:r>
              <a:rPr lang="en-US"/>
              <a:t>Race Subgroup Interaction Effects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558EE8-F51C-F426-C947-F3C7DA834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317540"/>
            <a:ext cx="5941343" cy="1921108"/>
          </a:xfrm>
        </p:spPr>
        <p:txBody>
          <a:bodyPr>
            <a:noAutofit/>
          </a:bodyPr>
          <a:lstStyle/>
          <a:p>
            <a:r>
              <a:rPr lang="en-US" sz="2000"/>
              <a:t>Only the Asian/PI subgroup interaction term is significant but high HR = 15.514 and large CI bounds suggest this is an unstable result</a:t>
            </a:r>
            <a:endParaRPr lang="en-US" sz="2000" dirty="0"/>
          </a:p>
          <a:p>
            <a:endParaRPr lang="en-US" sz="2000" b="1" dirty="0"/>
          </a:p>
          <a:p>
            <a:r>
              <a:rPr lang="en-US" sz="2000" b="1"/>
              <a:t>THIS SLIDE NEED SOMETHING</a:t>
            </a: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16B4FE-F53E-D0FE-5FA3-D6C491A26A77}"/>
                  </a:ext>
                </a:extLst>
              </p:cNvPr>
              <p:cNvSpPr txBox="1"/>
              <p:nvPr/>
            </p:nvSpPr>
            <p:spPr>
              <a:xfrm>
                <a:off x="413933" y="1044285"/>
                <a:ext cx="11116971" cy="6217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𝐵𝑙𝑎𝑐𝑘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𝐻𝑖𝑠𝑝𝑎𝑛𝑖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𝐴𝑠𝑖𝑎𝑛𝑃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𝑂𝑡h𝑒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𝐵𝑙𝑎𝑐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𝐻𝑖𝑠𝑝𝑎𝑛𝑖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𝐴𝑠𝑖𝑎𝑛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𝑂𝑡h𝑒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16B4FE-F53E-D0FE-5FA3-D6C491A26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33" y="1044285"/>
                <a:ext cx="11116971" cy="621773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9A2D7F6-AFB8-F83C-6E48-AF813648F420}"/>
              </a:ext>
            </a:extLst>
          </p:cNvPr>
          <p:cNvSpPr txBox="1"/>
          <p:nvPr/>
        </p:nvSpPr>
        <p:spPr>
          <a:xfrm>
            <a:off x="78578" y="1988184"/>
            <a:ext cx="747562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Race</a:t>
            </a:r>
            <a:r>
              <a:rPr lang="en-US" sz="2400" b="1"/>
              <a:t>/Ethnicity Interaction Model</a:t>
            </a:r>
            <a:endParaRPr lang="en-US" sz="2400" b="1" dirty="0"/>
          </a:p>
          <a:p>
            <a:pPr lvl="1"/>
            <a:r>
              <a:rPr lang="en-US" sz="2400"/>
              <a:t>LRT p = 0.0803</a:t>
            </a:r>
            <a:endParaRPr lang="en-US" sz="2400" dirty="0"/>
          </a:p>
          <a:p>
            <a:pPr lvl="1"/>
            <a:endParaRPr lang="en-US" sz="2400" dirty="0"/>
          </a:p>
          <a:p>
            <a:r>
              <a:rPr lang="en-US" sz="2400" b="1"/>
              <a:t>Subgroup-Specific Hazard Ratios</a:t>
            </a:r>
            <a:endParaRPr lang="en-US" sz="2400" b="1" dirty="0"/>
          </a:p>
          <a:p>
            <a:pPr lvl="1"/>
            <a:r>
              <a:rPr lang="en-US" sz="2400"/>
              <a:t>White:  	HR = 0.539 [0.303, 0.960] 	51 events</a:t>
            </a:r>
            <a:endParaRPr lang="en-US" sz="2400" dirty="0"/>
          </a:p>
          <a:p>
            <a:pPr lvl="1"/>
            <a:r>
              <a:rPr lang="en-US" sz="2400"/>
              <a:t>Black:  	HR = 0.287 [0.104, 0.794] 	21 events</a:t>
            </a:r>
            <a:endParaRPr lang="en-US" sz="2400" dirty="0"/>
          </a:p>
          <a:p>
            <a:pPr lvl="1"/>
            <a:r>
              <a:rPr lang="en-US" sz="2400" dirty="0">
                <a:solidFill>
                  <a:srgbClr val="922B21"/>
                </a:solidFill>
              </a:rPr>
              <a:t>Hispanic:</a:t>
            </a:r>
            <a:r>
              <a:rPr lang="en-US" sz="2400">
                <a:solidFill>
                  <a:srgbClr val="922B21"/>
                </a:solidFill>
              </a:rPr>
              <a:t>	HR = 0.628 [0.246, 1.602] 	20 events </a:t>
            </a:r>
            <a:endParaRPr lang="en-US" sz="2400" dirty="0">
              <a:solidFill>
                <a:srgbClr val="922B21"/>
              </a:solidFill>
            </a:endParaRPr>
          </a:p>
          <a:p>
            <a:pPr lvl="1"/>
            <a:r>
              <a:rPr lang="en-US" sz="2400" dirty="0">
                <a:solidFill>
                  <a:srgbClr val="922B21"/>
                </a:solidFill>
              </a:rPr>
              <a:t>Asian/</a:t>
            </a:r>
            <a:r>
              <a:rPr lang="en-US" sz="2400">
                <a:solidFill>
                  <a:srgbClr val="922B21"/>
                </a:solidFill>
              </a:rPr>
              <a:t>PI: 	HR = 0.068 [0.000, Inf]  	3 events </a:t>
            </a:r>
            <a:endParaRPr lang="en-US" sz="2400" dirty="0">
              <a:solidFill>
                <a:srgbClr val="922B21"/>
              </a:solidFill>
            </a:endParaRPr>
          </a:p>
          <a:p>
            <a:pPr lvl="1"/>
            <a:r>
              <a:rPr lang="en-US" sz="2400">
                <a:solidFill>
                  <a:srgbClr val="922B21"/>
                </a:solidFill>
              </a:rPr>
              <a:t>Other:  	HR = 237.3 [0.000, Inf]  	1 event </a:t>
            </a:r>
            <a:endParaRPr lang="en-US" sz="2400" dirty="0">
              <a:solidFill>
                <a:srgbClr val="922B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977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42F5-37FF-C0D8-951E-1BE6898E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515600" cy="792163"/>
          </a:xfrm>
        </p:spPr>
        <p:txBody>
          <a:bodyPr/>
          <a:lstStyle/>
          <a:p>
            <a:r>
              <a:rPr lang="en-US" dirty="0"/>
              <a:t>Observed Statistical Power by Subgroup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A42CA-A8A8-290D-369B-5EEC6A420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125538"/>
            <a:ext cx="10515600" cy="5580062"/>
          </a:xfrm>
        </p:spPr>
        <p:txBody>
          <a:bodyPr>
            <a:noAutofit/>
          </a:bodyPr>
          <a:lstStyle/>
          <a:p>
            <a:r>
              <a:rPr lang="en-US" sz="2400" b="1" dirty="0"/>
              <a:t>Power is driven by events, not enrollment counts alone</a:t>
            </a:r>
          </a:p>
          <a:p>
            <a:pPr lvl="1"/>
            <a:r>
              <a:rPr lang="en-US" dirty="0">
                <a:solidFill>
                  <a:srgbClr val="1E8449"/>
                </a:solidFill>
              </a:rPr>
              <a:t>✅ At or above 80% power</a:t>
            </a:r>
          </a:p>
          <a:p>
            <a:pPr lvl="1"/>
            <a:r>
              <a:rPr lang="en-US" dirty="0">
                <a:solidFill>
                  <a:srgbClr val="922B21"/>
                </a:solidFill>
              </a:rPr>
              <a:t>❌ Below 80% power (subgroup cannot support reliable inference)</a:t>
            </a:r>
          </a:p>
          <a:p>
            <a:endParaRPr lang="en-US" sz="2400" dirty="0">
              <a:solidFill>
                <a:srgbClr val="922B21"/>
              </a:solidFill>
            </a:endParaRPr>
          </a:p>
          <a:p>
            <a:r>
              <a:rPr lang="en-US" sz="2400" b="1" dirty="0"/>
              <a:t>Subgroup 	n  	Events Obs. 	HR Event 	Rate 	Obs. Power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1E8449"/>
                </a:solidFill>
              </a:rPr>
              <a:t>Overall   	1151  	96  		0.517  		8.3%   	83.9% ✅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1E8449"/>
                </a:solidFill>
              </a:rPr>
              <a:t>Female   	951  	81  		0.459  		8.5%   	89.7% ✅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922B21"/>
                </a:solidFill>
              </a:rPr>
              <a:t>Male    	200  	15  		1.101  		7.5%   	2.0% ❌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C0392B"/>
                </a:solidFill>
              </a:rPr>
              <a:t>White    	596  	51  		0.539  		8.6%   	48.6% ❌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C0392B"/>
                </a:solidFill>
              </a:rPr>
              <a:t>Black    	327  	21  		0.287  		6.4%   	73.2% ❌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922B21"/>
                </a:solidFill>
              </a:rPr>
              <a:t>Hispanic   	203  	20  		0.628  		9.9%   	11.5% ❌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922B21"/>
                </a:solidFill>
              </a:rPr>
              <a:t>Asian/PI   	14   	3  		0.068  		21.4%	53.5% ❌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922B21"/>
                </a:solidFill>
              </a:rPr>
              <a:t>Other    	11   	1  		237.3  		9.1%   	68.9% ❌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30688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F0ADF-05DC-A240-BFA4-4CD142DE3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515600" cy="792163"/>
          </a:xfrm>
        </p:spPr>
        <p:txBody>
          <a:bodyPr/>
          <a:lstStyle/>
          <a:p>
            <a:r>
              <a:rPr lang="en-US" dirty="0"/>
              <a:t>Statistical Power as a Function of Sample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7D8BD-16F0-7DD6-4A0F-AC08F121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426D61-6BC3-180A-21FC-5BC0CA20C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74" y="1129989"/>
            <a:ext cx="9374735" cy="559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80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07DC5-1A9D-D0F8-9793-3A6A7F52C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Simulation: Sample Size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E951C-529D-29F5-330C-3E565DD54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699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Hispanic subgroup:</a:t>
            </a:r>
          </a:p>
          <a:p>
            <a:pPr lvl="1"/>
            <a:r>
              <a:rPr lang="en-US" dirty="0"/>
              <a:t>Original study enrolled 203 enrolled with 20 events, 11.5% power</a:t>
            </a:r>
          </a:p>
          <a:p>
            <a:pPr lvl="1"/>
            <a:r>
              <a:rPr lang="en-US" dirty="0"/>
              <a:t>Future study needs ~447 participants (~44 events) to reach 80% power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Assumed effect size and related sample size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922B21"/>
                </a:solidFill>
              </a:rPr>
              <a:t>Male 	HR=0.5:   267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922B21"/>
                </a:solidFill>
              </a:rPr>
              <a:t>		HR=0.7: 1,000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922B21"/>
                </a:solidFill>
              </a:rPr>
              <a:t>		HR=0.9: 11,427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922B21"/>
                </a:solidFill>
              </a:rPr>
              <a:t>Asian/PI 	HR=0.5: 94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922B21"/>
                </a:solidFill>
              </a:rPr>
              <a:t>		HR=0.7: 350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922B21"/>
                </a:solidFill>
              </a:rPr>
              <a:t>		HR=0.9: 4,000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3EADA-15E5-186D-78A3-6C43FC0A9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02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C640C-6D05-17CF-4359-F3DA3765A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70496"/>
            <a:ext cx="10515600" cy="774067"/>
          </a:xfrm>
        </p:spPr>
        <p:txBody>
          <a:bodyPr/>
          <a:lstStyle/>
          <a:p>
            <a:r>
              <a:rPr lang="en-US"/>
              <a:t>Required Sample Sizes for 80</a:t>
            </a:r>
            <a:r>
              <a:rPr lang="en-US" dirty="0"/>
              <a:t>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4FFF5-C38A-DB34-6AB1-81148C49F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35BD65-15DC-5D6E-6C9B-4F99FB4E8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213620"/>
              </p:ext>
            </p:extLst>
          </p:nvPr>
        </p:nvGraphicFramePr>
        <p:xfrm>
          <a:off x="1143441" y="1410176"/>
          <a:ext cx="961936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389">
                  <a:extLst>
                    <a:ext uri="{9D8B030D-6E8A-4147-A177-3AD203B41FA5}">
                      <a16:colId xmlns:a16="http://schemas.microsoft.com/office/drawing/2014/main" val="772587959"/>
                    </a:ext>
                  </a:extLst>
                </a:gridCol>
                <a:gridCol w="1877123">
                  <a:extLst>
                    <a:ext uri="{9D8B030D-6E8A-4147-A177-3AD203B41FA5}">
                      <a16:colId xmlns:a16="http://schemas.microsoft.com/office/drawing/2014/main" val="1333839601"/>
                    </a:ext>
                  </a:extLst>
                </a:gridCol>
                <a:gridCol w="1671309">
                  <a:extLst>
                    <a:ext uri="{9D8B030D-6E8A-4147-A177-3AD203B41FA5}">
                      <a16:colId xmlns:a16="http://schemas.microsoft.com/office/drawing/2014/main" val="2467871587"/>
                    </a:ext>
                  </a:extLst>
                </a:gridCol>
                <a:gridCol w="2018179">
                  <a:extLst>
                    <a:ext uri="{9D8B030D-6E8A-4147-A177-3AD203B41FA5}">
                      <a16:colId xmlns:a16="http://schemas.microsoft.com/office/drawing/2014/main" val="1879297196"/>
                    </a:ext>
                  </a:extLst>
                </a:gridCol>
                <a:gridCol w="2403368">
                  <a:extLst>
                    <a:ext uri="{9D8B030D-6E8A-4147-A177-3AD203B41FA5}">
                      <a16:colId xmlns:a16="http://schemas.microsoft.com/office/drawing/2014/main" val="2117588414"/>
                    </a:ext>
                  </a:extLst>
                </a:gridCol>
              </a:tblGrid>
              <a:tr h="329235">
                <a:tc>
                  <a:txBody>
                    <a:bodyPr/>
                    <a:lstStyle/>
                    <a:p>
                      <a:r>
                        <a:rPr lang="en-US" sz="2400" dirty="0"/>
                        <a:t>Subgroup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Observations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Events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HR: Observed / (Assumed)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Sample Needed for 80% Power</a:t>
                      </a:r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315955"/>
                  </a:ext>
                </a:extLst>
              </a:tr>
              <a:tr h="146171">
                <a:tc>
                  <a:txBody>
                    <a:bodyPr/>
                    <a:lstStyle/>
                    <a:p>
                      <a:r>
                        <a:rPr lang="en-US" sz="2400" dirty="0"/>
                        <a:t>Overall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1151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0.517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264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0096817"/>
                  </a:ext>
                </a:extLst>
              </a:tr>
              <a:tr h="146171">
                <a:tc>
                  <a:txBody>
                    <a:bodyPr/>
                    <a:lstStyle/>
                    <a:p>
                      <a:r>
                        <a:rPr lang="en-US" sz="2400" dirty="0"/>
                        <a:t>Female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0.459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188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3263226"/>
                  </a:ext>
                </a:extLst>
              </a:tr>
              <a:tr h="146171">
                <a:tc>
                  <a:txBody>
                    <a:bodyPr/>
                    <a:lstStyle/>
                    <a:p>
                      <a:r>
                        <a:rPr lang="en-US" sz="2400" dirty="0"/>
                        <a:t>Male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(0.9 – 1.1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2,547 – 13,960</a:t>
                      </a:r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8873396"/>
                  </a:ext>
                </a:extLst>
              </a:tr>
              <a:tr h="146171">
                <a:tc>
                  <a:txBody>
                    <a:bodyPr/>
                    <a:lstStyle/>
                    <a:p>
                      <a:r>
                        <a:rPr lang="en-US" sz="2400" dirty="0"/>
                        <a:t>White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596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0.539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293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8515526"/>
                  </a:ext>
                </a:extLst>
              </a:tr>
              <a:tr h="146171">
                <a:tc>
                  <a:txBody>
                    <a:bodyPr/>
                    <a:lstStyle/>
                    <a:p>
                      <a:r>
                        <a:rPr lang="en-US" sz="2400" dirty="0"/>
                        <a:t>Black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327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0.287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2470211"/>
                  </a:ext>
                </a:extLst>
              </a:tr>
              <a:tr h="146171">
                <a:tc>
                  <a:txBody>
                    <a:bodyPr/>
                    <a:lstStyle/>
                    <a:p>
                      <a:r>
                        <a:rPr lang="en-US" sz="2400" dirty="0"/>
                        <a:t>Hispanic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0.628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447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3727366"/>
                  </a:ext>
                </a:extLst>
              </a:tr>
              <a:tr h="146171">
                <a:tc>
                  <a:txBody>
                    <a:bodyPr/>
                    <a:lstStyle/>
                    <a:p>
                      <a:r>
                        <a:rPr lang="en-US" sz="2400" dirty="0"/>
                        <a:t>Asian/PI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(0.9 – 1.1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892 – 4,886</a:t>
                      </a:r>
                      <a:endParaRPr lang="en-US" sz="2400" dirty="0"/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476638"/>
                  </a:ext>
                </a:extLst>
              </a:tr>
              <a:tr h="146171">
                <a:tc>
                  <a:txBody>
                    <a:bodyPr/>
                    <a:lstStyle/>
                    <a:p>
                      <a:r>
                        <a:rPr lang="en-US" sz="2400" dirty="0"/>
                        <a:t>Other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(0.9 – 1.1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9,427 – 11,517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9075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210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4B0E-0C9A-2355-5261-9D0EF4280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515600" cy="792163"/>
          </a:xfrm>
        </p:spPr>
        <p:txBody>
          <a:bodyPr/>
          <a:lstStyle/>
          <a:p>
            <a:r>
              <a:rPr lang="en-US"/>
              <a:t>Conclusions and Implications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7BBBA-584F-B0E1-CAD6-014BE4FB2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125537"/>
            <a:ext cx="10515600" cy="4716997"/>
          </a:xfrm>
        </p:spPr>
        <p:txBody>
          <a:bodyPr>
            <a:noAutofit/>
          </a:bodyPr>
          <a:lstStyle/>
          <a:p>
            <a:r>
              <a:rPr lang="en-US" sz="2400" dirty="0"/>
              <a:t>ACTG 320 was adequately powered to measure Overall group and Female subgroup while other groups were underpowered</a:t>
            </a:r>
          </a:p>
          <a:p>
            <a:r>
              <a:rPr lang="en-US" sz="2400" dirty="0"/>
              <a:t>Absence of significant interaction effects does not prove the effects are the same across groups since there was insufficient statistical power due to low event counts</a:t>
            </a:r>
          </a:p>
          <a:p>
            <a:r>
              <a:rPr lang="en-US" sz="2400" dirty="0"/>
              <a:t>Simulated power analysis shows that with such little information available, sample sizes required to achieve 80% statistical power are impractical</a:t>
            </a:r>
          </a:p>
          <a:p>
            <a:r>
              <a:rPr lang="en-US" sz="2400" dirty="0"/>
              <a:t>Future clinical trials should prospectively design subgroup enrollment to achieve subgroup specific power requirements </a:t>
            </a:r>
          </a:p>
          <a:p>
            <a:r>
              <a:rPr lang="en-US" sz="2400" dirty="0"/>
              <a:t>Doing so will help ensure treatment effects can be detected to inform more accurate therapeutic recommendations where warranted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04C5B-7A3B-08C3-C0F2-AB3FF1A8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330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1890</Words>
  <Application>Microsoft Office PowerPoint</Application>
  <PresentationFormat>Widescreen</PresentationFormat>
  <Paragraphs>279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Represented but Underpowered: Subgroup Inference in the ACTG 320 Trial</vt:lpstr>
      <vt:lpstr>Today’s topics</vt:lpstr>
      <vt:lpstr>Research Questions</vt:lpstr>
      <vt:lpstr>ACTG 320 Study Design (Hammer et al. 1997)</vt:lpstr>
      <vt:lpstr>Participant Group Descriptive Statistics</vt:lpstr>
      <vt:lpstr>Cox Proportional Hazard Models</vt:lpstr>
      <vt:lpstr>Full Group Treatment Effect Replication</vt:lpstr>
      <vt:lpstr>Sex Subgroup Interaction Effects</vt:lpstr>
      <vt:lpstr>Race Subgroup Interaction Effects</vt:lpstr>
      <vt:lpstr>Observed Statistical Power by Subgroup</vt:lpstr>
      <vt:lpstr>Statistical Power as a Function of Sample Size</vt:lpstr>
      <vt:lpstr>Power Simulation: Sample Size Requirements</vt:lpstr>
      <vt:lpstr>Required Sample Sizes for 80%</vt:lpstr>
      <vt:lpstr>Conclusions and Implications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Blackburn</dc:creator>
  <cp:lastModifiedBy>Susan Peck</cp:lastModifiedBy>
  <cp:revision>8</cp:revision>
  <dcterms:created xsi:type="dcterms:W3CDTF">2026-05-08T21:07:49Z</dcterms:created>
  <dcterms:modified xsi:type="dcterms:W3CDTF">2026-05-09T21:26:30Z</dcterms:modified>
</cp:coreProperties>
</file>