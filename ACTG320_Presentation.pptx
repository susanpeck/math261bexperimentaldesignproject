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Dosage Inequity in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Pharmaceutical Studies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Analysis: Replication and Reanalysis of ACTG 320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Peck  |  Jan Blackburn  |  Joseph Burks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are designed to detect overall treatment effects 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subgroup differences.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racial, and ethnic minorities are enrolled in numbers too small to support reliable subgroup inference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a significant subgroup finding is NOT evidence of uniform treatment effects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treatment guidelines are routinely generalized to all demographic groups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 in survival analysis is driven by observed events — not enrollment counts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ACTG 320 Trial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HIV clinical trial from the mid-1990s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Multicenter, randomized, double-blind, placebo-controlled RCT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2-drug nucleoside regimen  vs.  3-drug + indinavir (protease inhibitor)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AIDS-defining illness or death (time-to-event)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137160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033272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760720" y="151333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960120"/>
            <a:ext cx="1371600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033272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269480" y="151333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2057400"/>
            <a:ext cx="137160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130552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82.6%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760720" y="261061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057400"/>
            <a:ext cx="137160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130552"/>
            <a:ext cx="1371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269480" y="261061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154680"/>
            <a:ext cx="28803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227832"/>
            <a:ext cx="2880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760720" y="3707892"/>
            <a:ext cx="28803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Reduction (Overall)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Research: A Structural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6459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Poon et al. (2013)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late-phase trials, 2000–2009. Women averaged 45% of enrollment. Fewer than 1/3 of trials reported sex-specific results — even when women were adequately enrolled.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94560"/>
            <a:ext cx="16459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Khan et al. (2020)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Pivotal cardiometabolic trials, 2008–2017. Minority enrollment improved only modestly. Absolute numbers too small for meaningful subgroup analyses. Called for prospective enrollment targets.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474720"/>
            <a:ext cx="164592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Eshera et al. (2015)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therapeutic areas, 2005–2012. Persistent underrepresentation of older adults, women, and racial minorities. Not isolated to HIV — a structural feature of trial design.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005840" cy="10972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96012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116128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ACTG 320 trial successfully replicate the original overall treatment effect?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005840" cy="10972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463040" y="228600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248716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demographic subgroups had adequate statistical power to detect treatment effects?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1005840" cy="10972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11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463040" y="3611880"/>
            <a:ext cx="7315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381304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enrollment would a future study need to achieve 80% power for each subgroup?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Curves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event-free survival probability over time for each treatment group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96012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hazard ratios adjusting for age, CD4, Karnofsky score, prior ZDV, CD4 stratum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treatment × sex and treatment × race/ethnicity interactions are significant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8892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88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(Schoenfeld 1981)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observed power and required sample sizes using event counts and hazard ratios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Treatment Effect — Replication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finding was successfully replicated: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= 0.517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 (Treatment vs Control)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2286000" cy="12801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444752"/>
            <a:ext cx="2286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0.0012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926080" y="207568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Log-rank test significance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3291840" cy="12801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444752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~48% reduction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94960" y="2075688"/>
            <a:ext cx="3291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hazard of AIDS or death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Indinavir-containing therapy halved the hazard of AIDS progression or death.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result was stable across all model specifications.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covariates: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CD4 (p&lt;0.001), Karnofsky score (p&lt;0.001), age (p=0.054). CD4 stratum and prior ZDV use were not significant.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Subgroup Effect Sizes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ratios become increasingly unreliable as event counts fall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347472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  <a:gridCol w="1371600"/>
                <a:gridCol w="1097280"/>
              </a:tblGrid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(Overall)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 – 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 – 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 – 3.09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 – 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– 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Hispanic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– 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Asian/PI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Statistical Power by Subgroup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determined by events, not enrollment. 80% threshold shown.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0" y="1280160"/>
            <a:ext cx="0" cy="3557016"/>
          </a:xfrm>
          <a:prstGeom prst="line">
            <a:avLst/>
          </a:prstGeom>
          <a:noFill/>
          <a:ln w="19050">
            <a:solidFill>
              <a:srgbClr val="E8485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92240" y="10332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(Overall)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389888"/>
            <a:ext cx="498668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9800" y="1325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 (96 events)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975104"/>
            <a:ext cx="5331409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34529" y="19110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 (81 events)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963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560320"/>
            <a:ext cx="2888590" cy="347472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1710" y="2496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 (51 events)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0815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3145536"/>
            <a:ext cx="4350715" cy="347472"/>
          </a:xfrm>
          <a:prstGeom prst="rect">
            <a:avLst/>
          </a:prstGeom>
          <a:solidFill>
            <a:srgbClr val="E09B3D"/>
          </a:solidFill>
          <a:ln w="12700">
            <a:solidFill>
              <a:srgbClr val="E09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3835" y="3081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 (21 events)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6667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0" y="3730752"/>
            <a:ext cx="683514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6634" y="36667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(20 events)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4315968"/>
            <a:ext cx="118872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1992" y="4251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 (15 events)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Sample Sizes for 80% Power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subgroups were never in a position to detect meaningful differences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841248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10312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ACTG 320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n (80%)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(Overall)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Adequate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Adequate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Race: White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Adequate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Race: Black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F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Adequate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Race: Hispanic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Underpowered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Sex: Male (HR=0.5)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Underpowered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Sex: Male (HR=0.9)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Severely underpowered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Lesson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power in survival studies is determined by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events — not enrollment counts.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subgroup can be proportionally represented and still contribute too few events to support any meaningful conclusion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Nonsignificant subgroup findings typically reflect insufficient power — not homogeneous treatment effects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in ACTG 320 is not unique to HIV research — it is structural across pivotal drug trials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data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variables in the public release. Secondary endpoints (CD4 trajectories, HIV-1 RNA) unavailable.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event 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96 events across 1,151 participants — constrains precision of all subgroup analyses regardless of method.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Proportionality assumption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model assumes constant hazard ratios over time. May not hold in sparse-event subgroups.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8346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race category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Indian/Alaska Native category absent from the public dataset. Ethnicity analysis has less coverage than intended.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 for Future Trial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94360" cy="777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Prospective enrollment targets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based on anticipated event rates and minimum detectable effect sizes — not proportional representation alone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594360" cy="777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4767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993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follow-up duration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event accrual without additional enrollment — cost-effective for improving subgroup power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594360" cy="777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35224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98094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event-driven designs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3192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subgroup analyses only after subgroup-specific event thresholds are met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594360" cy="777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2277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&amp; meta-analytic methods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068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information across subgroups or pool across trials when single-trial enrollment is insufficient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ACTG 320's overall treatment effect was successfully replicated: HR = 0.517, p = 0.0012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overall group and female subgroup exceeded 80% power — all others were underpowered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Hispanic subgroup needed 447 participants; the male subgroup needed up to 11,427 for small effects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Nonsignificant subgroup findings reflect insufficient power, not evidence of uniform treatment effects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trial design — not better analysis — is the solution to demographic underrepresentation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github.com/susanpeck/Math261BExperimentalDesignProject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Dosage Inequity in Pharmaceutical Studies</dc:title>
  <dc:subject>PptxGenJS Presentation</dc:subject>
  <dc:creator>PptxGenJS</dc:creator>
  <cp:lastModifiedBy>PptxGenJS</cp:lastModifiedBy>
  <cp:revision>1</cp:revision>
  <dcterms:created xsi:type="dcterms:W3CDTF">2026-05-08T20:01:17Z</dcterms:created>
  <dcterms:modified xsi:type="dcterms:W3CDTF">2026-05-08T20:01:17Z</dcterms:modified>
</cp:coreProperties>
</file>